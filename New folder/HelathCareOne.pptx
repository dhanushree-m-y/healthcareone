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7" r:id="rId3"/>
    <p:sldId id="284" r:id="rId4"/>
    <p:sldId id="269" r:id="rId5"/>
    <p:sldId id="272" r:id="rId6"/>
    <p:sldId id="283" r:id="rId7"/>
    <p:sldId id="282" r:id="rId8"/>
    <p:sldId id="275" r:id="rId9"/>
    <p:sldId id="266" r:id="rId10"/>
    <p:sldId id="268" r:id="rId11"/>
    <p:sldId id="278" r:id="rId12"/>
    <p:sldId id="281" r:id="rId13"/>
    <p:sldId id="28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70659B-260D-4917-A862-5AA6939C6DCB}"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25FA5F0C-C585-445C-9A53-1D18EDF6ADCD}">
      <dgm:prSet/>
      <dgm:spPr/>
      <dgm:t>
        <a:bodyPr/>
        <a:lstStyle/>
        <a:p>
          <a:r>
            <a:rPr lang="en-IN" b="1" dirty="0"/>
            <a:t>Staffing Data Silo: Staffing data is not linked to patient data, limiting AI-driven staffing optimization.</a:t>
          </a:r>
          <a:endParaRPr lang="en-US" dirty="0"/>
        </a:p>
      </dgm:t>
    </dgm:pt>
    <dgm:pt modelId="{A3120109-0CCE-4CA9-AC8A-BE96DAC0824E}" type="parTrans" cxnId="{994E685D-E7AC-4A2A-AE89-02B45F59DBE3}">
      <dgm:prSet/>
      <dgm:spPr/>
      <dgm:t>
        <a:bodyPr/>
        <a:lstStyle/>
        <a:p>
          <a:endParaRPr lang="en-US"/>
        </a:p>
      </dgm:t>
    </dgm:pt>
    <dgm:pt modelId="{71FB3E8C-ECC0-47AF-B86C-AD80489D6F19}" type="sibTrans" cxnId="{994E685D-E7AC-4A2A-AE89-02B45F59DBE3}">
      <dgm:prSet/>
      <dgm:spPr/>
      <dgm:t>
        <a:bodyPr/>
        <a:lstStyle/>
        <a:p>
          <a:endParaRPr lang="en-US"/>
        </a:p>
      </dgm:t>
    </dgm:pt>
    <dgm:pt modelId="{CFD093EE-7F4F-455B-8E30-F9D7D88BC56B}">
      <dgm:prSet/>
      <dgm:spPr/>
      <dgm:t>
        <a:bodyPr/>
        <a:lstStyle/>
        <a:p>
          <a:r>
            <a:rPr lang="en-IN" b="1" dirty="0"/>
            <a:t>Legacy Systems &amp; Technical Debt: Outdated systems hinder integration and require manual workarounds.</a:t>
          </a:r>
          <a:endParaRPr lang="en-US" dirty="0"/>
        </a:p>
      </dgm:t>
    </dgm:pt>
    <dgm:pt modelId="{010CE5C4-5173-41EA-AEDE-8A77DF74A0D1}" type="parTrans" cxnId="{E1AED5CC-3A0E-4001-9695-10B4325A19C3}">
      <dgm:prSet/>
      <dgm:spPr/>
      <dgm:t>
        <a:bodyPr/>
        <a:lstStyle/>
        <a:p>
          <a:endParaRPr lang="en-US"/>
        </a:p>
      </dgm:t>
    </dgm:pt>
    <dgm:pt modelId="{5414449A-0946-44A1-8852-32CFBECB1DA2}" type="sibTrans" cxnId="{E1AED5CC-3A0E-4001-9695-10B4325A19C3}">
      <dgm:prSet/>
      <dgm:spPr/>
      <dgm:t>
        <a:bodyPr/>
        <a:lstStyle/>
        <a:p>
          <a:endParaRPr lang="en-US"/>
        </a:p>
      </dgm:t>
    </dgm:pt>
    <dgm:pt modelId="{7770A15D-F09A-4111-98B2-6B59FF1D1B98}">
      <dgm:prSet/>
      <dgm:spPr/>
      <dgm:t>
        <a:bodyPr/>
        <a:lstStyle/>
        <a:p>
          <a:r>
            <a:rPr lang="en-IN" b="1" dirty="0"/>
            <a:t>Data Quality &amp; Consistency Data Fragmentation:  Variations in coding, unstructured notes, manually, causing delays and incomplete records.</a:t>
          </a:r>
          <a:endParaRPr lang="en-US" dirty="0"/>
        </a:p>
      </dgm:t>
    </dgm:pt>
    <dgm:pt modelId="{FBE14610-F859-40AA-9050-CDF8E17B71D9}" type="parTrans" cxnId="{3863559B-4520-4003-91C9-FA305028EE8B}">
      <dgm:prSet/>
      <dgm:spPr/>
      <dgm:t>
        <a:bodyPr/>
        <a:lstStyle/>
        <a:p>
          <a:endParaRPr lang="en-US"/>
        </a:p>
      </dgm:t>
    </dgm:pt>
    <dgm:pt modelId="{408E4FC2-78C3-40E8-9C6E-F7325523CE26}" type="sibTrans" cxnId="{3863559B-4520-4003-91C9-FA305028EE8B}">
      <dgm:prSet/>
      <dgm:spPr/>
      <dgm:t>
        <a:bodyPr/>
        <a:lstStyle/>
        <a:p>
          <a:endParaRPr lang="en-US"/>
        </a:p>
      </dgm:t>
    </dgm:pt>
    <dgm:pt modelId="{100393C9-2E25-4C29-98B3-E74EC585B69A}">
      <dgm:prSet/>
      <dgm:spPr/>
      <dgm:t>
        <a:bodyPr/>
        <a:lstStyle/>
        <a:p>
          <a:r>
            <a:rPr lang="en-IN" b="1" dirty="0"/>
            <a:t>Imaging Metadata Gaps: Inconsistent metadata tagging complicates AI training for diagnostic support models.</a:t>
          </a:r>
          <a:endParaRPr lang="en-US" dirty="0"/>
        </a:p>
      </dgm:t>
    </dgm:pt>
    <dgm:pt modelId="{F1D3E7C0-AEA8-41C9-B0FD-5456A617BC44}" type="parTrans" cxnId="{BE290F1B-12D6-47D4-90DB-F90311FC68EE}">
      <dgm:prSet/>
      <dgm:spPr/>
      <dgm:t>
        <a:bodyPr/>
        <a:lstStyle/>
        <a:p>
          <a:endParaRPr lang="en-US"/>
        </a:p>
      </dgm:t>
    </dgm:pt>
    <dgm:pt modelId="{2F87C782-0B97-4907-8E59-99071E26FC8C}" type="sibTrans" cxnId="{BE290F1B-12D6-47D4-90DB-F90311FC68EE}">
      <dgm:prSet/>
      <dgm:spPr/>
      <dgm:t>
        <a:bodyPr/>
        <a:lstStyle/>
        <a:p>
          <a:endParaRPr lang="en-US"/>
        </a:p>
      </dgm:t>
    </dgm:pt>
    <dgm:pt modelId="{42F46177-E2FD-4EEC-906C-60C9A254FDD4}">
      <dgm:prSet/>
      <dgm:spPr/>
      <dgm:t>
        <a:bodyPr/>
        <a:lstStyle/>
        <a:p>
          <a:endParaRPr lang="en-US"/>
        </a:p>
      </dgm:t>
    </dgm:pt>
    <dgm:pt modelId="{B5BB1D8E-838B-45B4-AD2A-E9C3D8DB6365}" type="parTrans" cxnId="{D364C05B-48DC-47BA-8CA5-0642BA975C17}">
      <dgm:prSet/>
      <dgm:spPr/>
      <dgm:t>
        <a:bodyPr/>
        <a:lstStyle/>
        <a:p>
          <a:endParaRPr lang="en-US"/>
        </a:p>
      </dgm:t>
    </dgm:pt>
    <dgm:pt modelId="{C8251D78-C0D4-40F8-8DF2-0379D5521FA8}" type="sibTrans" cxnId="{D364C05B-48DC-47BA-8CA5-0642BA975C17}">
      <dgm:prSet/>
      <dgm:spPr/>
      <dgm:t>
        <a:bodyPr/>
        <a:lstStyle/>
        <a:p>
          <a:endParaRPr lang="en-US"/>
        </a:p>
      </dgm:t>
    </dgm:pt>
    <dgm:pt modelId="{A51F3352-7E03-4940-9B56-2651F90FD3A9}">
      <dgm:prSet/>
      <dgm:spPr/>
      <dgm:t>
        <a:bodyPr/>
        <a:lstStyle/>
        <a:p>
          <a:r>
            <a:rPr lang="en-IN" b="1" dirty="0"/>
            <a:t>48% Patients reported Dissatisfaction with long wait times.</a:t>
          </a:r>
        </a:p>
        <a:p>
          <a:r>
            <a:rPr lang="en-US" b="1" dirty="0"/>
            <a:t>58% used online portals for scheduling or accessing records • Of these, 41% reported usability challenges, citing confusing navigation and login issues</a:t>
          </a:r>
        </a:p>
      </dgm:t>
    </dgm:pt>
    <dgm:pt modelId="{9B57D291-8021-4BB7-B29F-0276EE0A4F56}" type="parTrans" cxnId="{71D6CE40-14DD-4E57-A468-32AD2CFFAF46}">
      <dgm:prSet/>
      <dgm:spPr/>
      <dgm:t>
        <a:bodyPr/>
        <a:lstStyle/>
        <a:p>
          <a:endParaRPr lang="en-US"/>
        </a:p>
      </dgm:t>
    </dgm:pt>
    <dgm:pt modelId="{D5C2AFDB-E448-4955-846A-FF169301C53A}" type="sibTrans" cxnId="{71D6CE40-14DD-4E57-A468-32AD2CFFAF46}">
      <dgm:prSet/>
      <dgm:spPr/>
      <dgm:t>
        <a:bodyPr/>
        <a:lstStyle/>
        <a:p>
          <a:endParaRPr lang="en-US"/>
        </a:p>
      </dgm:t>
    </dgm:pt>
    <dgm:pt modelId="{49322047-8CC9-4A19-AB2F-AD722C4F16AF}">
      <dgm:prSet/>
      <dgm:spPr/>
      <dgm:t>
        <a:bodyPr/>
        <a:lstStyle/>
        <a:p>
          <a:r>
            <a:rPr lang="en-IN" b="1" dirty="0"/>
            <a:t>Appointment Scheduling Delays: Patient appointment scheduling is frequently delayed.</a:t>
          </a:r>
          <a:endParaRPr lang="en-US" dirty="0"/>
        </a:p>
      </dgm:t>
    </dgm:pt>
    <dgm:pt modelId="{8EF59D68-B6BC-4052-B98B-C564B78D03AC}" type="parTrans" cxnId="{D234A1F5-4CCA-4728-9F83-0BFA5B287754}">
      <dgm:prSet/>
      <dgm:spPr/>
      <dgm:t>
        <a:bodyPr/>
        <a:lstStyle/>
        <a:p>
          <a:endParaRPr lang="en-US"/>
        </a:p>
      </dgm:t>
    </dgm:pt>
    <dgm:pt modelId="{72D58E98-5DA0-423C-BDCA-34B1AA090C1B}" type="sibTrans" cxnId="{D234A1F5-4CCA-4728-9F83-0BFA5B287754}">
      <dgm:prSet/>
      <dgm:spPr/>
      <dgm:t>
        <a:bodyPr/>
        <a:lstStyle/>
        <a:p>
          <a:endParaRPr lang="en-US"/>
        </a:p>
      </dgm:t>
    </dgm:pt>
    <dgm:pt modelId="{89D6C7B9-7A96-4183-9D77-60D9DA1A722D}" type="pres">
      <dgm:prSet presAssocID="{DC70659B-260D-4917-A862-5AA6939C6DCB}" presName="vert0" presStyleCnt="0">
        <dgm:presLayoutVars>
          <dgm:dir/>
          <dgm:animOne val="branch"/>
          <dgm:animLvl val="lvl"/>
        </dgm:presLayoutVars>
      </dgm:prSet>
      <dgm:spPr/>
    </dgm:pt>
    <dgm:pt modelId="{F95C853A-0A25-4EC2-A276-4A430595048B}" type="pres">
      <dgm:prSet presAssocID="{25FA5F0C-C585-445C-9A53-1D18EDF6ADCD}" presName="thickLine" presStyleLbl="alignNode1" presStyleIdx="0" presStyleCnt="7"/>
      <dgm:spPr/>
    </dgm:pt>
    <dgm:pt modelId="{7A29715E-4B56-4D47-A31E-60637C18FF6A}" type="pres">
      <dgm:prSet presAssocID="{25FA5F0C-C585-445C-9A53-1D18EDF6ADCD}" presName="horz1" presStyleCnt="0"/>
      <dgm:spPr/>
    </dgm:pt>
    <dgm:pt modelId="{6800FDD8-4F44-40B9-A4D9-FAFC8F468D63}" type="pres">
      <dgm:prSet presAssocID="{25FA5F0C-C585-445C-9A53-1D18EDF6ADCD}" presName="tx1" presStyleLbl="revTx" presStyleIdx="0" presStyleCnt="7"/>
      <dgm:spPr/>
    </dgm:pt>
    <dgm:pt modelId="{217437DE-42B9-45DB-95A7-DA388B41ECB8}" type="pres">
      <dgm:prSet presAssocID="{25FA5F0C-C585-445C-9A53-1D18EDF6ADCD}" presName="vert1" presStyleCnt="0"/>
      <dgm:spPr/>
    </dgm:pt>
    <dgm:pt modelId="{83CDAA5B-0D5D-4E87-B6DA-8CDCE4403819}" type="pres">
      <dgm:prSet presAssocID="{CFD093EE-7F4F-455B-8E30-F9D7D88BC56B}" presName="thickLine" presStyleLbl="alignNode1" presStyleIdx="1" presStyleCnt="7"/>
      <dgm:spPr/>
    </dgm:pt>
    <dgm:pt modelId="{598372F3-1AD9-4C4D-8FD6-FFA5A86DD425}" type="pres">
      <dgm:prSet presAssocID="{CFD093EE-7F4F-455B-8E30-F9D7D88BC56B}" presName="horz1" presStyleCnt="0"/>
      <dgm:spPr/>
    </dgm:pt>
    <dgm:pt modelId="{202B39AC-1CAD-4D37-8DF0-D66343B29FA7}" type="pres">
      <dgm:prSet presAssocID="{CFD093EE-7F4F-455B-8E30-F9D7D88BC56B}" presName="tx1" presStyleLbl="revTx" presStyleIdx="1" presStyleCnt="7" custLinFactNeighborX="-49" custLinFactNeighborY="99315"/>
      <dgm:spPr/>
    </dgm:pt>
    <dgm:pt modelId="{FB2502E9-EB57-4C4E-ADEB-92DF97F9ACD9}" type="pres">
      <dgm:prSet presAssocID="{CFD093EE-7F4F-455B-8E30-F9D7D88BC56B}" presName="vert1" presStyleCnt="0"/>
      <dgm:spPr/>
    </dgm:pt>
    <dgm:pt modelId="{78D813DB-0F42-46F1-9951-8DE8BEB5B37D}" type="pres">
      <dgm:prSet presAssocID="{7770A15D-F09A-4111-98B2-6B59FF1D1B98}" presName="thickLine" presStyleLbl="alignNode1" presStyleIdx="2" presStyleCnt="7"/>
      <dgm:spPr/>
    </dgm:pt>
    <dgm:pt modelId="{1785D844-158E-4C10-A0FC-809B79BE2D7B}" type="pres">
      <dgm:prSet presAssocID="{7770A15D-F09A-4111-98B2-6B59FF1D1B98}" presName="horz1" presStyleCnt="0"/>
      <dgm:spPr/>
    </dgm:pt>
    <dgm:pt modelId="{37C21D37-07F2-4855-811A-C9B0C17E7B23}" type="pres">
      <dgm:prSet presAssocID="{7770A15D-F09A-4111-98B2-6B59FF1D1B98}" presName="tx1" presStyleLbl="revTx" presStyleIdx="2" presStyleCnt="7" custLinFactY="100000" custLinFactNeighborX="-49" custLinFactNeighborY="100385"/>
      <dgm:spPr/>
    </dgm:pt>
    <dgm:pt modelId="{C9258194-8503-45B0-A291-B9EE2D137484}" type="pres">
      <dgm:prSet presAssocID="{7770A15D-F09A-4111-98B2-6B59FF1D1B98}" presName="vert1" presStyleCnt="0"/>
      <dgm:spPr/>
    </dgm:pt>
    <dgm:pt modelId="{35D46F9A-2C03-4A75-9CFB-F814BA9A9991}" type="pres">
      <dgm:prSet presAssocID="{100393C9-2E25-4C29-98B3-E74EC585B69A}" presName="thickLine" presStyleLbl="alignNode1" presStyleIdx="3" presStyleCnt="7"/>
      <dgm:spPr/>
    </dgm:pt>
    <dgm:pt modelId="{6A0D83C5-7316-49C5-A96E-6B62AF448AD1}" type="pres">
      <dgm:prSet presAssocID="{100393C9-2E25-4C29-98B3-E74EC585B69A}" presName="horz1" presStyleCnt="0"/>
      <dgm:spPr/>
    </dgm:pt>
    <dgm:pt modelId="{532B4F98-497E-4C50-9F0B-B434580D5AAE}" type="pres">
      <dgm:prSet presAssocID="{100393C9-2E25-4C29-98B3-E74EC585B69A}" presName="tx1" presStyleLbl="revTx" presStyleIdx="3" presStyleCnt="7" custLinFactY="94988" custLinFactNeighborX="-49" custLinFactNeighborY="100000"/>
      <dgm:spPr/>
    </dgm:pt>
    <dgm:pt modelId="{7B7C9727-1306-4CF0-9E13-98E2B57225F1}" type="pres">
      <dgm:prSet presAssocID="{100393C9-2E25-4C29-98B3-E74EC585B69A}" presName="vert1" presStyleCnt="0"/>
      <dgm:spPr/>
    </dgm:pt>
    <dgm:pt modelId="{B38BD02D-9AF7-47FF-B056-1CB3647462FC}" type="pres">
      <dgm:prSet presAssocID="{42F46177-E2FD-4EEC-906C-60C9A254FDD4}" presName="thickLine" presStyleLbl="alignNode1" presStyleIdx="4" presStyleCnt="7"/>
      <dgm:spPr/>
    </dgm:pt>
    <dgm:pt modelId="{2DA341E4-C629-4095-A289-3CF6B1958FD7}" type="pres">
      <dgm:prSet presAssocID="{42F46177-E2FD-4EEC-906C-60C9A254FDD4}" presName="horz1" presStyleCnt="0"/>
      <dgm:spPr/>
    </dgm:pt>
    <dgm:pt modelId="{DDDEC52E-FB10-43FA-B8E6-F396DF6AFACF}" type="pres">
      <dgm:prSet presAssocID="{42F46177-E2FD-4EEC-906C-60C9A254FDD4}" presName="tx1" presStyleLbl="revTx" presStyleIdx="4" presStyleCnt="7"/>
      <dgm:spPr/>
    </dgm:pt>
    <dgm:pt modelId="{F833ED76-288E-46BD-856C-2110FEC1055D}" type="pres">
      <dgm:prSet presAssocID="{42F46177-E2FD-4EEC-906C-60C9A254FDD4}" presName="vert1" presStyleCnt="0"/>
      <dgm:spPr/>
    </dgm:pt>
    <dgm:pt modelId="{EAC42874-7784-4CDF-AC5E-F1B0443E0330}" type="pres">
      <dgm:prSet presAssocID="{A51F3352-7E03-4940-9B56-2651F90FD3A9}" presName="thickLine" presStyleLbl="alignNode1" presStyleIdx="5" presStyleCnt="7"/>
      <dgm:spPr/>
    </dgm:pt>
    <dgm:pt modelId="{5555ABD5-1BAB-43C1-B9C1-86791D268935}" type="pres">
      <dgm:prSet presAssocID="{A51F3352-7E03-4940-9B56-2651F90FD3A9}" presName="horz1" presStyleCnt="0"/>
      <dgm:spPr/>
    </dgm:pt>
    <dgm:pt modelId="{6FAB7648-7AEB-4D3C-95E7-52E5A39DD467}" type="pres">
      <dgm:prSet presAssocID="{A51F3352-7E03-4940-9B56-2651F90FD3A9}" presName="tx1" presStyleLbl="revTx" presStyleIdx="5" presStyleCnt="7" custLinFactY="-200000" custLinFactNeighborX="-389" custLinFactNeighborY="-203573"/>
      <dgm:spPr/>
    </dgm:pt>
    <dgm:pt modelId="{CF115EB7-A776-4B2B-9115-B03E162DBEBA}" type="pres">
      <dgm:prSet presAssocID="{A51F3352-7E03-4940-9B56-2651F90FD3A9}" presName="vert1" presStyleCnt="0"/>
      <dgm:spPr/>
    </dgm:pt>
    <dgm:pt modelId="{FF1706AA-BDE7-4894-8CA1-882EA094FA25}" type="pres">
      <dgm:prSet presAssocID="{49322047-8CC9-4A19-AB2F-AD722C4F16AF}" presName="thickLine" presStyleLbl="alignNode1" presStyleIdx="6" presStyleCnt="7"/>
      <dgm:spPr/>
    </dgm:pt>
    <dgm:pt modelId="{A30CDEC2-9F3C-4ACE-8911-07194C95B092}" type="pres">
      <dgm:prSet presAssocID="{49322047-8CC9-4A19-AB2F-AD722C4F16AF}" presName="horz1" presStyleCnt="0"/>
      <dgm:spPr/>
    </dgm:pt>
    <dgm:pt modelId="{875B6FFA-3AFC-4052-857D-BAE0BD3ACC6D}" type="pres">
      <dgm:prSet presAssocID="{49322047-8CC9-4A19-AB2F-AD722C4F16AF}" presName="tx1" presStyleLbl="revTx" presStyleIdx="6" presStyleCnt="7" custLinFactY="-104020" custLinFactNeighborX="-49" custLinFactNeighborY="-200000"/>
      <dgm:spPr/>
    </dgm:pt>
    <dgm:pt modelId="{D3096F36-7024-46A7-BF09-89CDF740D1E2}" type="pres">
      <dgm:prSet presAssocID="{49322047-8CC9-4A19-AB2F-AD722C4F16AF}" presName="vert1" presStyleCnt="0"/>
      <dgm:spPr/>
    </dgm:pt>
  </dgm:ptLst>
  <dgm:cxnLst>
    <dgm:cxn modelId="{BE290F1B-12D6-47D4-90DB-F90311FC68EE}" srcId="{DC70659B-260D-4917-A862-5AA6939C6DCB}" destId="{100393C9-2E25-4C29-98B3-E74EC585B69A}" srcOrd="3" destOrd="0" parTransId="{F1D3E7C0-AEA8-41C9-B0FD-5456A617BC44}" sibTransId="{2F87C782-0B97-4907-8E59-99071E26FC8C}"/>
    <dgm:cxn modelId="{CA95D228-19E0-4204-9A9A-3CD8914B3BEB}" type="presOf" srcId="{49322047-8CC9-4A19-AB2F-AD722C4F16AF}" destId="{875B6FFA-3AFC-4052-857D-BAE0BD3ACC6D}" srcOrd="0" destOrd="0" presId="urn:microsoft.com/office/officeart/2008/layout/LinedList"/>
    <dgm:cxn modelId="{850E8334-2CDA-4789-942A-B87B9F826D82}" type="presOf" srcId="{A51F3352-7E03-4940-9B56-2651F90FD3A9}" destId="{6FAB7648-7AEB-4D3C-95E7-52E5A39DD467}" srcOrd="0" destOrd="0" presId="urn:microsoft.com/office/officeart/2008/layout/LinedList"/>
    <dgm:cxn modelId="{71D6CE40-14DD-4E57-A468-32AD2CFFAF46}" srcId="{DC70659B-260D-4917-A862-5AA6939C6DCB}" destId="{A51F3352-7E03-4940-9B56-2651F90FD3A9}" srcOrd="5" destOrd="0" parTransId="{9B57D291-8021-4BB7-B29F-0276EE0A4F56}" sibTransId="{D5C2AFDB-E448-4955-846A-FF169301C53A}"/>
    <dgm:cxn modelId="{D364C05B-48DC-47BA-8CA5-0642BA975C17}" srcId="{DC70659B-260D-4917-A862-5AA6939C6DCB}" destId="{42F46177-E2FD-4EEC-906C-60C9A254FDD4}" srcOrd="4" destOrd="0" parTransId="{B5BB1D8E-838B-45B4-AD2A-E9C3D8DB6365}" sibTransId="{C8251D78-C0D4-40F8-8DF2-0379D5521FA8}"/>
    <dgm:cxn modelId="{994E685D-E7AC-4A2A-AE89-02B45F59DBE3}" srcId="{DC70659B-260D-4917-A862-5AA6939C6DCB}" destId="{25FA5F0C-C585-445C-9A53-1D18EDF6ADCD}" srcOrd="0" destOrd="0" parTransId="{A3120109-0CCE-4CA9-AC8A-BE96DAC0824E}" sibTransId="{71FB3E8C-ECC0-47AF-B86C-AD80489D6F19}"/>
    <dgm:cxn modelId="{613A8243-8F82-48BE-BC0A-295E86CFA07F}" type="presOf" srcId="{25FA5F0C-C585-445C-9A53-1D18EDF6ADCD}" destId="{6800FDD8-4F44-40B9-A4D9-FAFC8F468D63}" srcOrd="0" destOrd="0" presId="urn:microsoft.com/office/officeart/2008/layout/LinedList"/>
    <dgm:cxn modelId="{3863559B-4520-4003-91C9-FA305028EE8B}" srcId="{DC70659B-260D-4917-A862-5AA6939C6DCB}" destId="{7770A15D-F09A-4111-98B2-6B59FF1D1B98}" srcOrd="2" destOrd="0" parTransId="{FBE14610-F859-40AA-9050-CDF8E17B71D9}" sibTransId="{408E4FC2-78C3-40E8-9C6E-F7325523CE26}"/>
    <dgm:cxn modelId="{27D756A3-5ACA-4E5F-AE67-D7FBCEB1B8BA}" type="presOf" srcId="{DC70659B-260D-4917-A862-5AA6939C6DCB}" destId="{89D6C7B9-7A96-4183-9D77-60D9DA1A722D}" srcOrd="0" destOrd="0" presId="urn:microsoft.com/office/officeart/2008/layout/LinedList"/>
    <dgm:cxn modelId="{336F3FA8-1088-4F22-BAE5-3DF992144F22}" type="presOf" srcId="{100393C9-2E25-4C29-98B3-E74EC585B69A}" destId="{532B4F98-497E-4C50-9F0B-B434580D5AAE}" srcOrd="0" destOrd="0" presId="urn:microsoft.com/office/officeart/2008/layout/LinedList"/>
    <dgm:cxn modelId="{1552E1AD-AD39-4455-9023-26895D28F921}" type="presOf" srcId="{42F46177-E2FD-4EEC-906C-60C9A254FDD4}" destId="{DDDEC52E-FB10-43FA-B8E6-F396DF6AFACF}" srcOrd="0" destOrd="0" presId="urn:microsoft.com/office/officeart/2008/layout/LinedList"/>
    <dgm:cxn modelId="{E1AED5CC-3A0E-4001-9695-10B4325A19C3}" srcId="{DC70659B-260D-4917-A862-5AA6939C6DCB}" destId="{CFD093EE-7F4F-455B-8E30-F9D7D88BC56B}" srcOrd="1" destOrd="0" parTransId="{010CE5C4-5173-41EA-AEDE-8A77DF74A0D1}" sibTransId="{5414449A-0946-44A1-8852-32CFBECB1DA2}"/>
    <dgm:cxn modelId="{16A189CD-9E64-47B8-84A6-5449EEAA8C19}" type="presOf" srcId="{7770A15D-F09A-4111-98B2-6B59FF1D1B98}" destId="{37C21D37-07F2-4855-811A-C9B0C17E7B23}" srcOrd="0" destOrd="0" presId="urn:microsoft.com/office/officeart/2008/layout/LinedList"/>
    <dgm:cxn modelId="{945A46F2-EF88-49B4-A8A4-71536D9CC85D}" type="presOf" srcId="{CFD093EE-7F4F-455B-8E30-F9D7D88BC56B}" destId="{202B39AC-1CAD-4D37-8DF0-D66343B29FA7}" srcOrd="0" destOrd="0" presId="urn:microsoft.com/office/officeart/2008/layout/LinedList"/>
    <dgm:cxn modelId="{D234A1F5-4CCA-4728-9F83-0BFA5B287754}" srcId="{DC70659B-260D-4917-A862-5AA6939C6DCB}" destId="{49322047-8CC9-4A19-AB2F-AD722C4F16AF}" srcOrd="6" destOrd="0" parTransId="{8EF59D68-B6BC-4052-B98B-C564B78D03AC}" sibTransId="{72D58E98-5DA0-423C-BDCA-34B1AA090C1B}"/>
    <dgm:cxn modelId="{AEC7DDB1-939B-4347-9E0B-D840CD933ED7}" type="presParOf" srcId="{89D6C7B9-7A96-4183-9D77-60D9DA1A722D}" destId="{F95C853A-0A25-4EC2-A276-4A430595048B}" srcOrd="0" destOrd="0" presId="urn:microsoft.com/office/officeart/2008/layout/LinedList"/>
    <dgm:cxn modelId="{2BF4A788-DD43-4BE4-8435-03A560D5B827}" type="presParOf" srcId="{89D6C7B9-7A96-4183-9D77-60D9DA1A722D}" destId="{7A29715E-4B56-4D47-A31E-60637C18FF6A}" srcOrd="1" destOrd="0" presId="urn:microsoft.com/office/officeart/2008/layout/LinedList"/>
    <dgm:cxn modelId="{9C882DED-F84D-4120-8E42-98D0ADB464CD}" type="presParOf" srcId="{7A29715E-4B56-4D47-A31E-60637C18FF6A}" destId="{6800FDD8-4F44-40B9-A4D9-FAFC8F468D63}" srcOrd="0" destOrd="0" presId="urn:microsoft.com/office/officeart/2008/layout/LinedList"/>
    <dgm:cxn modelId="{B1A9164E-1FCF-4528-A8A0-D00A339EAD59}" type="presParOf" srcId="{7A29715E-4B56-4D47-A31E-60637C18FF6A}" destId="{217437DE-42B9-45DB-95A7-DA388B41ECB8}" srcOrd="1" destOrd="0" presId="urn:microsoft.com/office/officeart/2008/layout/LinedList"/>
    <dgm:cxn modelId="{D805D15B-08A2-443D-9F96-92750BDBE33E}" type="presParOf" srcId="{89D6C7B9-7A96-4183-9D77-60D9DA1A722D}" destId="{83CDAA5B-0D5D-4E87-B6DA-8CDCE4403819}" srcOrd="2" destOrd="0" presId="urn:microsoft.com/office/officeart/2008/layout/LinedList"/>
    <dgm:cxn modelId="{2F850966-6A4F-4544-994F-08DEB85412C8}" type="presParOf" srcId="{89D6C7B9-7A96-4183-9D77-60D9DA1A722D}" destId="{598372F3-1AD9-4C4D-8FD6-FFA5A86DD425}" srcOrd="3" destOrd="0" presId="urn:microsoft.com/office/officeart/2008/layout/LinedList"/>
    <dgm:cxn modelId="{7C6199FA-E88E-4540-BED4-971E847379F4}" type="presParOf" srcId="{598372F3-1AD9-4C4D-8FD6-FFA5A86DD425}" destId="{202B39AC-1CAD-4D37-8DF0-D66343B29FA7}" srcOrd="0" destOrd="0" presId="urn:microsoft.com/office/officeart/2008/layout/LinedList"/>
    <dgm:cxn modelId="{813A3529-CD81-428B-8B67-8A20837BDF61}" type="presParOf" srcId="{598372F3-1AD9-4C4D-8FD6-FFA5A86DD425}" destId="{FB2502E9-EB57-4C4E-ADEB-92DF97F9ACD9}" srcOrd="1" destOrd="0" presId="urn:microsoft.com/office/officeart/2008/layout/LinedList"/>
    <dgm:cxn modelId="{31C6CFF1-2360-4178-BAF2-5B73C64E5C5C}" type="presParOf" srcId="{89D6C7B9-7A96-4183-9D77-60D9DA1A722D}" destId="{78D813DB-0F42-46F1-9951-8DE8BEB5B37D}" srcOrd="4" destOrd="0" presId="urn:microsoft.com/office/officeart/2008/layout/LinedList"/>
    <dgm:cxn modelId="{1AC61277-C140-48AA-9D40-59C8094DB217}" type="presParOf" srcId="{89D6C7B9-7A96-4183-9D77-60D9DA1A722D}" destId="{1785D844-158E-4C10-A0FC-809B79BE2D7B}" srcOrd="5" destOrd="0" presId="urn:microsoft.com/office/officeart/2008/layout/LinedList"/>
    <dgm:cxn modelId="{7B978A08-9973-4DE9-ACB0-4DDB8BD2609D}" type="presParOf" srcId="{1785D844-158E-4C10-A0FC-809B79BE2D7B}" destId="{37C21D37-07F2-4855-811A-C9B0C17E7B23}" srcOrd="0" destOrd="0" presId="urn:microsoft.com/office/officeart/2008/layout/LinedList"/>
    <dgm:cxn modelId="{F489DF79-C343-4618-AE14-E6F7E8F46C75}" type="presParOf" srcId="{1785D844-158E-4C10-A0FC-809B79BE2D7B}" destId="{C9258194-8503-45B0-A291-B9EE2D137484}" srcOrd="1" destOrd="0" presId="urn:microsoft.com/office/officeart/2008/layout/LinedList"/>
    <dgm:cxn modelId="{A24B3C3E-8297-4342-9B58-096CC4C5982F}" type="presParOf" srcId="{89D6C7B9-7A96-4183-9D77-60D9DA1A722D}" destId="{35D46F9A-2C03-4A75-9CFB-F814BA9A9991}" srcOrd="6" destOrd="0" presId="urn:microsoft.com/office/officeart/2008/layout/LinedList"/>
    <dgm:cxn modelId="{92A0EBC1-F8F1-47F2-9D9F-F39639B1540A}" type="presParOf" srcId="{89D6C7B9-7A96-4183-9D77-60D9DA1A722D}" destId="{6A0D83C5-7316-49C5-A96E-6B62AF448AD1}" srcOrd="7" destOrd="0" presId="urn:microsoft.com/office/officeart/2008/layout/LinedList"/>
    <dgm:cxn modelId="{4441C5BA-4623-46E1-B737-71288CB0E290}" type="presParOf" srcId="{6A0D83C5-7316-49C5-A96E-6B62AF448AD1}" destId="{532B4F98-497E-4C50-9F0B-B434580D5AAE}" srcOrd="0" destOrd="0" presId="urn:microsoft.com/office/officeart/2008/layout/LinedList"/>
    <dgm:cxn modelId="{21CD5453-249C-4C27-BAE3-65C58F70CF6A}" type="presParOf" srcId="{6A0D83C5-7316-49C5-A96E-6B62AF448AD1}" destId="{7B7C9727-1306-4CF0-9E13-98E2B57225F1}" srcOrd="1" destOrd="0" presId="urn:microsoft.com/office/officeart/2008/layout/LinedList"/>
    <dgm:cxn modelId="{085E8734-25BE-4FCF-8F0E-733445CB2A33}" type="presParOf" srcId="{89D6C7B9-7A96-4183-9D77-60D9DA1A722D}" destId="{B38BD02D-9AF7-47FF-B056-1CB3647462FC}" srcOrd="8" destOrd="0" presId="urn:microsoft.com/office/officeart/2008/layout/LinedList"/>
    <dgm:cxn modelId="{F36D7FB5-1215-4FBF-BB92-55F32BC7E42F}" type="presParOf" srcId="{89D6C7B9-7A96-4183-9D77-60D9DA1A722D}" destId="{2DA341E4-C629-4095-A289-3CF6B1958FD7}" srcOrd="9" destOrd="0" presId="urn:microsoft.com/office/officeart/2008/layout/LinedList"/>
    <dgm:cxn modelId="{0151DCFC-9F8F-4720-BEE0-C4B36C7AF294}" type="presParOf" srcId="{2DA341E4-C629-4095-A289-3CF6B1958FD7}" destId="{DDDEC52E-FB10-43FA-B8E6-F396DF6AFACF}" srcOrd="0" destOrd="0" presId="urn:microsoft.com/office/officeart/2008/layout/LinedList"/>
    <dgm:cxn modelId="{50D69D46-0827-4E5E-AF9C-C7B399194F9B}" type="presParOf" srcId="{2DA341E4-C629-4095-A289-3CF6B1958FD7}" destId="{F833ED76-288E-46BD-856C-2110FEC1055D}" srcOrd="1" destOrd="0" presId="urn:microsoft.com/office/officeart/2008/layout/LinedList"/>
    <dgm:cxn modelId="{490A6868-15A6-43CB-8695-29DC878547ED}" type="presParOf" srcId="{89D6C7B9-7A96-4183-9D77-60D9DA1A722D}" destId="{EAC42874-7784-4CDF-AC5E-F1B0443E0330}" srcOrd="10" destOrd="0" presId="urn:microsoft.com/office/officeart/2008/layout/LinedList"/>
    <dgm:cxn modelId="{FD6553D5-EBB7-4184-99D6-B36B22C746C1}" type="presParOf" srcId="{89D6C7B9-7A96-4183-9D77-60D9DA1A722D}" destId="{5555ABD5-1BAB-43C1-B9C1-86791D268935}" srcOrd="11" destOrd="0" presId="urn:microsoft.com/office/officeart/2008/layout/LinedList"/>
    <dgm:cxn modelId="{AE3A0972-C0AB-438B-9F0C-DE8788882FAB}" type="presParOf" srcId="{5555ABD5-1BAB-43C1-B9C1-86791D268935}" destId="{6FAB7648-7AEB-4D3C-95E7-52E5A39DD467}" srcOrd="0" destOrd="0" presId="urn:microsoft.com/office/officeart/2008/layout/LinedList"/>
    <dgm:cxn modelId="{ED75A336-9792-491E-A6F4-526952341322}" type="presParOf" srcId="{5555ABD5-1BAB-43C1-B9C1-86791D268935}" destId="{CF115EB7-A776-4B2B-9115-B03E162DBEBA}" srcOrd="1" destOrd="0" presId="urn:microsoft.com/office/officeart/2008/layout/LinedList"/>
    <dgm:cxn modelId="{DBDB31F9-6EBD-41BA-B7AF-758FB1A8D14D}" type="presParOf" srcId="{89D6C7B9-7A96-4183-9D77-60D9DA1A722D}" destId="{FF1706AA-BDE7-4894-8CA1-882EA094FA25}" srcOrd="12" destOrd="0" presId="urn:microsoft.com/office/officeart/2008/layout/LinedList"/>
    <dgm:cxn modelId="{AF367BC1-78F0-438E-B7CA-9AE590029B12}" type="presParOf" srcId="{89D6C7B9-7A96-4183-9D77-60D9DA1A722D}" destId="{A30CDEC2-9F3C-4ACE-8911-07194C95B092}" srcOrd="13" destOrd="0" presId="urn:microsoft.com/office/officeart/2008/layout/LinedList"/>
    <dgm:cxn modelId="{33E0539E-C940-4D94-9357-4F9EA2609C18}" type="presParOf" srcId="{A30CDEC2-9F3C-4ACE-8911-07194C95B092}" destId="{875B6FFA-3AFC-4052-857D-BAE0BD3ACC6D}" srcOrd="0" destOrd="0" presId="urn:microsoft.com/office/officeart/2008/layout/LinedList"/>
    <dgm:cxn modelId="{49758F1D-6D45-4D4B-A8FD-1DE9E5A0C2CA}" type="presParOf" srcId="{A30CDEC2-9F3C-4ACE-8911-07194C95B092}" destId="{D3096F36-7024-46A7-BF09-89CDF740D1E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FF4327-B9E9-45AC-A49F-2499DD12851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17C05C4-CD98-426E-B97E-001C9017560E}">
      <dgm:prSet/>
      <dgm:spPr/>
      <dgm:t>
        <a:bodyPr/>
        <a:lstStyle/>
        <a:p>
          <a:r>
            <a:rPr lang="en-US" b="1"/>
            <a:t>Expected Outcomes:</a:t>
          </a:r>
          <a:endParaRPr lang="en-US"/>
        </a:p>
      </dgm:t>
    </dgm:pt>
    <dgm:pt modelId="{767C97CC-7E05-4D78-BF1A-5D4C0E084D5E}" type="parTrans" cxnId="{C685F244-C6B7-4FAA-A7D0-FE8B9266A150}">
      <dgm:prSet/>
      <dgm:spPr/>
      <dgm:t>
        <a:bodyPr/>
        <a:lstStyle/>
        <a:p>
          <a:endParaRPr lang="en-US"/>
        </a:p>
      </dgm:t>
    </dgm:pt>
    <dgm:pt modelId="{4C52E706-45A5-4B74-93F1-F2FC8187A14E}" type="sibTrans" cxnId="{C685F244-C6B7-4FAA-A7D0-FE8B9266A150}">
      <dgm:prSet/>
      <dgm:spPr/>
      <dgm:t>
        <a:bodyPr/>
        <a:lstStyle/>
        <a:p>
          <a:endParaRPr lang="en-US"/>
        </a:p>
      </dgm:t>
    </dgm:pt>
    <dgm:pt modelId="{29FA2932-74CC-4970-BF51-C2F3AD6EA60B}">
      <dgm:prSet/>
      <dgm:spPr/>
      <dgm:t>
        <a:bodyPr/>
        <a:lstStyle/>
        <a:p>
          <a:r>
            <a:rPr lang="en-US"/>
            <a:t>Improved patient experience through automated scheduling and virtual assistants. </a:t>
          </a:r>
        </a:p>
      </dgm:t>
    </dgm:pt>
    <dgm:pt modelId="{E720351C-4D70-4345-8158-507F7D51B07C}" type="parTrans" cxnId="{775FBDD7-78F2-43D1-86AB-DC7076EBAFE5}">
      <dgm:prSet/>
      <dgm:spPr/>
      <dgm:t>
        <a:bodyPr/>
        <a:lstStyle/>
        <a:p>
          <a:endParaRPr lang="en-US"/>
        </a:p>
      </dgm:t>
    </dgm:pt>
    <dgm:pt modelId="{7F1331CA-D046-48DB-B7C9-85AF2F408DDA}" type="sibTrans" cxnId="{775FBDD7-78F2-43D1-86AB-DC7076EBAFE5}">
      <dgm:prSet/>
      <dgm:spPr/>
      <dgm:t>
        <a:bodyPr/>
        <a:lstStyle/>
        <a:p>
          <a:endParaRPr lang="en-US"/>
        </a:p>
      </dgm:t>
    </dgm:pt>
    <dgm:pt modelId="{0A52A712-10CD-4910-9351-BFB804AF8A1D}">
      <dgm:prSet/>
      <dgm:spPr/>
      <dgm:t>
        <a:bodyPr/>
        <a:lstStyle/>
        <a:p>
          <a:r>
            <a:rPr lang="en-US"/>
            <a:t>Enhanced staff workflows and satisfaction.</a:t>
          </a:r>
        </a:p>
      </dgm:t>
    </dgm:pt>
    <dgm:pt modelId="{861D1BF2-F474-4184-8A45-E2E7426F8022}" type="parTrans" cxnId="{EE4B00B6-F3CA-4E6C-AE88-BB20B049C3C2}">
      <dgm:prSet/>
      <dgm:spPr/>
      <dgm:t>
        <a:bodyPr/>
        <a:lstStyle/>
        <a:p>
          <a:endParaRPr lang="en-US"/>
        </a:p>
      </dgm:t>
    </dgm:pt>
    <dgm:pt modelId="{009CFE4D-0368-4482-8DB0-7F97D40F4EC7}" type="sibTrans" cxnId="{EE4B00B6-F3CA-4E6C-AE88-BB20B049C3C2}">
      <dgm:prSet/>
      <dgm:spPr/>
      <dgm:t>
        <a:bodyPr/>
        <a:lstStyle/>
        <a:p>
          <a:endParaRPr lang="en-US"/>
        </a:p>
      </dgm:t>
    </dgm:pt>
    <dgm:pt modelId="{52F84E88-7FA3-4567-93AA-CBA2FE3E0C3F}">
      <dgm:prSet/>
      <dgm:spPr/>
      <dgm:t>
        <a:bodyPr/>
        <a:lstStyle/>
        <a:p>
          <a:r>
            <a:rPr lang="en-US"/>
            <a:t>Transparent governance and compliance reporting. </a:t>
          </a:r>
        </a:p>
      </dgm:t>
    </dgm:pt>
    <dgm:pt modelId="{685F04F2-3AEA-42D0-9CD7-4AC1D436FC76}" type="parTrans" cxnId="{7EBE55C4-0883-4FB4-A005-934E9A566736}">
      <dgm:prSet/>
      <dgm:spPr/>
      <dgm:t>
        <a:bodyPr/>
        <a:lstStyle/>
        <a:p>
          <a:endParaRPr lang="en-US"/>
        </a:p>
      </dgm:t>
    </dgm:pt>
    <dgm:pt modelId="{E74C2A5D-90B2-4DE8-B97E-9CEC6E3B5849}" type="sibTrans" cxnId="{7EBE55C4-0883-4FB4-A005-934E9A566736}">
      <dgm:prSet/>
      <dgm:spPr/>
      <dgm:t>
        <a:bodyPr/>
        <a:lstStyle/>
        <a:p>
          <a:endParaRPr lang="en-US"/>
        </a:p>
      </dgm:t>
    </dgm:pt>
    <dgm:pt modelId="{A2D16E33-F918-419E-84FB-106FAC765002}">
      <dgm:prSet/>
      <dgm:spPr/>
      <dgm:t>
        <a:bodyPr/>
        <a:lstStyle/>
        <a:p>
          <a:r>
            <a:rPr lang="en-US"/>
            <a:t>Scalable, standardized data architecture for future AI initiatives.</a:t>
          </a:r>
        </a:p>
      </dgm:t>
    </dgm:pt>
    <dgm:pt modelId="{5CC9C0E7-8D88-47F3-89E3-0CCB55472626}" type="parTrans" cxnId="{627555E9-86BD-4AC5-85FE-AACF9E2EED48}">
      <dgm:prSet/>
      <dgm:spPr/>
      <dgm:t>
        <a:bodyPr/>
        <a:lstStyle/>
        <a:p>
          <a:endParaRPr lang="en-US"/>
        </a:p>
      </dgm:t>
    </dgm:pt>
    <dgm:pt modelId="{8838CD18-FF60-4E06-BF39-29E27912105D}" type="sibTrans" cxnId="{627555E9-86BD-4AC5-85FE-AACF9E2EED48}">
      <dgm:prSet/>
      <dgm:spPr/>
      <dgm:t>
        <a:bodyPr/>
        <a:lstStyle/>
        <a:p>
          <a:endParaRPr lang="en-US"/>
        </a:p>
      </dgm:t>
    </dgm:pt>
    <dgm:pt modelId="{EA9B6D03-CA2A-41A1-9E72-2B8F5654B695}" type="pres">
      <dgm:prSet presAssocID="{4FFF4327-B9E9-45AC-A49F-2499DD12851D}" presName="linear" presStyleCnt="0">
        <dgm:presLayoutVars>
          <dgm:animLvl val="lvl"/>
          <dgm:resizeHandles val="exact"/>
        </dgm:presLayoutVars>
      </dgm:prSet>
      <dgm:spPr/>
    </dgm:pt>
    <dgm:pt modelId="{2D8A6E5F-8432-4CEF-81B6-21B1CA8722D8}" type="pres">
      <dgm:prSet presAssocID="{C17C05C4-CD98-426E-B97E-001C9017560E}" presName="parentText" presStyleLbl="node1" presStyleIdx="0" presStyleCnt="1">
        <dgm:presLayoutVars>
          <dgm:chMax val="0"/>
          <dgm:bulletEnabled val="1"/>
        </dgm:presLayoutVars>
      </dgm:prSet>
      <dgm:spPr/>
    </dgm:pt>
    <dgm:pt modelId="{F0BA6028-C44D-443E-9E24-297F2BF120D6}" type="pres">
      <dgm:prSet presAssocID="{C17C05C4-CD98-426E-B97E-001C9017560E}" presName="childText" presStyleLbl="revTx" presStyleIdx="0" presStyleCnt="1">
        <dgm:presLayoutVars>
          <dgm:bulletEnabled val="1"/>
        </dgm:presLayoutVars>
      </dgm:prSet>
      <dgm:spPr/>
    </dgm:pt>
  </dgm:ptLst>
  <dgm:cxnLst>
    <dgm:cxn modelId="{200A1F5D-02BC-4077-9015-9886967FD8D5}" type="presOf" srcId="{0A52A712-10CD-4910-9351-BFB804AF8A1D}" destId="{F0BA6028-C44D-443E-9E24-297F2BF120D6}" srcOrd="0" destOrd="1" presId="urn:microsoft.com/office/officeart/2005/8/layout/vList2"/>
    <dgm:cxn modelId="{C685F244-C6B7-4FAA-A7D0-FE8B9266A150}" srcId="{4FFF4327-B9E9-45AC-A49F-2499DD12851D}" destId="{C17C05C4-CD98-426E-B97E-001C9017560E}" srcOrd="0" destOrd="0" parTransId="{767C97CC-7E05-4D78-BF1A-5D4C0E084D5E}" sibTransId="{4C52E706-45A5-4B74-93F1-F2FC8187A14E}"/>
    <dgm:cxn modelId="{0F5C366C-624A-4F42-A6C6-F48DD31552E1}" type="presOf" srcId="{4FFF4327-B9E9-45AC-A49F-2499DD12851D}" destId="{EA9B6D03-CA2A-41A1-9E72-2B8F5654B695}" srcOrd="0" destOrd="0" presId="urn:microsoft.com/office/officeart/2005/8/layout/vList2"/>
    <dgm:cxn modelId="{D6D8DD84-3493-4BDD-8484-43949C320905}" type="presOf" srcId="{C17C05C4-CD98-426E-B97E-001C9017560E}" destId="{2D8A6E5F-8432-4CEF-81B6-21B1CA8722D8}" srcOrd="0" destOrd="0" presId="urn:microsoft.com/office/officeart/2005/8/layout/vList2"/>
    <dgm:cxn modelId="{EE4B00B6-F3CA-4E6C-AE88-BB20B049C3C2}" srcId="{C17C05C4-CD98-426E-B97E-001C9017560E}" destId="{0A52A712-10CD-4910-9351-BFB804AF8A1D}" srcOrd="1" destOrd="0" parTransId="{861D1BF2-F474-4184-8A45-E2E7426F8022}" sibTransId="{009CFE4D-0368-4482-8DB0-7F97D40F4EC7}"/>
    <dgm:cxn modelId="{ECC318BD-53DE-4894-ADFA-03FE3072B12D}" type="presOf" srcId="{29FA2932-74CC-4970-BF51-C2F3AD6EA60B}" destId="{F0BA6028-C44D-443E-9E24-297F2BF120D6}" srcOrd="0" destOrd="0" presId="urn:microsoft.com/office/officeart/2005/8/layout/vList2"/>
    <dgm:cxn modelId="{7EBE55C4-0883-4FB4-A005-934E9A566736}" srcId="{C17C05C4-CD98-426E-B97E-001C9017560E}" destId="{52F84E88-7FA3-4567-93AA-CBA2FE3E0C3F}" srcOrd="2" destOrd="0" parTransId="{685F04F2-3AEA-42D0-9CD7-4AC1D436FC76}" sibTransId="{E74C2A5D-90B2-4DE8-B97E-9CEC6E3B5849}"/>
    <dgm:cxn modelId="{7BE5ECC6-D378-460F-BE9F-0BE852DFD4A8}" type="presOf" srcId="{A2D16E33-F918-419E-84FB-106FAC765002}" destId="{F0BA6028-C44D-443E-9E24-297F2BF120D6}" srcOrd="0" destOrd="3" presId="urn:microsoft.com/office/officeart/2005/8/layout/vList2"/>
    <dgm:cxn modelId="{775FBDD7-78F2-43D1-86AB-DC7076EBAFE5}" srcId="{C17C05C4-CD98-426E-B97E-001C9017560E}" destId="{29FA2932-74CC-4970-BF51-C2F3AD6EA60B}" srcOrd="0" destOrd="0" parTransId="{E720351C-4D70-4345-8158-507F7D51B07C}" sibTransId="{7F1331CA-D046-48DB-B7C9-85AF2F408DDA}"/>
    <dgm:cxn modelId="{627555E9-86BD-4AC5-85FE-AACF9E2EED48}" srcId="{C17C05C4-CD98-426E-B97E-001C9017560E}" destId="{A2D16E33-F918-419E-84FB-106FAC765002}" srcOrd="3" destOrd="0" parTransId="{5CC9C0E7-8D88-47F3-89E3-0CCB55472626}" sibTransId="{8838CD18-FF60-4E06-BF39-29E27912105D}"/>
    <dgm:cxn modelId="{49ECFAF7-696C-4DEF-B157-E5D5B710A9DC}" type="presOf" srcId="{52F84E88-7FA3-4567-93AA-CBA2FE3E0C3F}" destId="{F0BA6028-C44D-443E-9E24-297F2BF120D6}" srcOrd="0" destOrd="2" presId="urn:microsoft.com/office/officeart/2005/8/layout/vList2"/>
    <dgm:cxn modelId="{52B47AB6-4293-4929-BCBD-2E14DAFE47CE}" type="presParOf" srcId="{EA9B6D03-CA2A-41A1-9E72-2B8F5654B695}" destId="{2D8A6E5F-8432-4CEF-81B6-21B1CA8722D8}" srcOrd="0" destOrd="0" presId="urn:microsoft.com/office/officeart/2005/8/layout/vList2"/>
    <dgm:cxn modelId="{206AAFF0-0BDE-41CA-8DB9-6ED94FC6F6C8}" type="presParOf" srcId="{EA9B6D03-CA2A-41A1-9E72-2B8F5654B695}" destId="{F0BA6028-C44D-443E-9E24-297F2BF120D6}"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5C853A-0A25-4EC2-A276-4A430595048B}">
      <dsp:nvSpPr>
        <dsp:cNvPr id="0" name=""/>
        <dsp:cNvSpPr/>
      </dsp:nvSpPr>
      <dsp:spPr>
        <a:xfrm>
          <a:off x="0" y="671"/>
          <a:ext cx="626364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00FDD8-4F44-40B9-A4D9-FAFC8F468D63}">
      <dsp:nvSpPr>
        <dsp:cNvPr id="0" name=""/>
        <dsp:cNvSpPr/>
      </dsp:nvSpPr>
      <dsp:spPr>
        <a:xfrm>
          <a:off x="0" y="671"/>
          <a:ext cx="6263640" cy="786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dirty="0"/>
            <a:t>Staffing Data Silo: Staffing data is not linked to patient data, limiting AI-driven staffing optimization.</a:t>
          </a:r>
          <a:endParaRPr lang="en-US" sz="1400" kern="1200" dirty="0"/>
        </a:p>
      </dsp:txBody>
      <dsp:txXfrm>
        <a:off x="0" y="671"/>
        <a:ext cx="6263640" cy="786192"/>
      </dsp:txXfrm>
    </dsp:sp>
    <dsp:sp modelId="{83CDAA5B-0D5D-4E87-B6DA-8CDCE4403819}">
      <dsp:nvSpPr>
        <dsp:cNvPr id="0" name=""/>
        <dsp:cNvSpPr/>
      </dsp:nvSpPr>
      <dsp:spPr>
        <a:xfrm>
          <a:off x="0" y="786863"/>
          <a:ext cx="626364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2B39AC-1CAD-4D37-8DF0-D66343B29FA7}">
      <dsp:nvSpPr>
        <dsp:cNvPr id="0" name=""/>
        <dsp:cNvSpPr/>
      </dsp:nvSpPr>
      <dsp:spPr>
        <a:xfrm>
          <a:off x="0" y="1567670"/>
          <a:ext cx="6263640" cy="786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dirty="0"/>
            <a:t>Legacy Systems &amp; Technical Debt: Outdated systems hinder integration and require manual workarounds.</a:t>
          </a:r>
          <a:endParaRPr lang="en-US" sz="1400" kern="1200" dirty="0"/>
        </a:p>
      </dsp:txBody>
      <dsp:txXfrm>
        <a:off x="0" y="1567670"/>
        <a:ext cx="6263640" cy="786192"/>
      </dsp:txXfrm>
    </dsp:sp>
    <dsp:sp modelId="{78D813DB-0F42-46F1-9951-8DE8BEB5B37D}">
      <dsp:nvSpPr>
        <dsp:cNvPr id="0" name=""/>
        <dsp:cNvSpPr/>
      </dsp:nvSpPr>
      <dsp:spPr>
        <a:xfrm>
          <a:off x="0" y="1573055"/>
          <a:ext cx="626364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C21D37-07F2-4855-811A-C9B0C17E7B23}">
      <dsp:nvSpPr>
        <dsp:cNvPr id="0" name=""/>
        <dsp:cNvSpPr/>
      </dsp:nvSpPr>
      <dsp:spPr>
        <a:xfrm>
          <a:off x="0" y="3148466"/>
          <a:ext cx="6263640" cy="786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dirty="0"/>
            <a:t>Data Quality &amp; Consistency Data Fragmentation:  Variations in coding, unstructured notes, manually, causing delays and incomplete records.</a:t>
          </a:r>
          <a:endParaRPr lang="en-US" sz="1400" kern="1200" dirty="0"/>
        </a:p>
      </dsp:txBody>
      <dsp:txXfrm>
        <a:off x="0" y="3148466"/>
        <a:ext cx="6263640" cy="786192"/>
      </dsp:txXfrm>
    </dsp:sp>
    <dsp:sp modelId="{35D46F9A-2C03-4A75-9CFB-F814BA9A9991}">
      <dsp:nvSpPr>
        <dsp:cNvPr id="0" name=""/>
        <dsp:cNvSpPr/>
      </dsp:nvSpPr>
      <dsp:spPr>
        <a:xfrm>
          <a:off x="0" y="2359247"/>
          <a:ext cx="626364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2B4F98-497E-4C50-9F0B-B434580D5AAE}">
      <dsp:nvSpPr>
        <dsp:cNvPr id="0" name=""/>
        <dsp:cNvSpPr/>
      </dsp:nvSpPr>
      <dsp:spPr>
        <a:xfrm>
          <a:off x="0" y="3892228"/>
          <a:ext cx="6263640" cy="786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dirty="0"/>
            <a:t>Imaging Metadata Gaps: Inconsistent metadata tagging complicates AI training for diagnostic support models.</a:t>
          </a:r>
          <a:endParaRPr lang="en-US" sz="1400" kern="1200" dirty="0"/>
        </a:p>
      </dsp:txBody>
      <dsp:txXfrm>
        <a:off x="0" y="3892228"/>
        <a:ext cx="6263640" cy="786192"/>
      </dsp:txXfrm>
    </dsp:sp>
    <dsp:sp modelId="{B38BD02D-9AF7-47FF-B056-1CB3647462FC}">
      <dsp:nvSpPr>
        <dsp:cNvPr id="0" name=""/>
        <dsp:cNvSpPr/>
      </dsp:nvSpPr>
      <dsp:spPr>
        <a:xfrm>
          <a:off x="0" y="3145440"/>
          <a:ext cx="626364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DEC52E-FB10-43FA-B8E6-F396DF6AFACF}">
      <dsp:nvSpPr>
        <dsp:cNvPr id="0" name=""/>
        <dsp:cNvSpPr/>
      </dsp:nvSpPr>
      <dsp:spPr>
        <a:xfrm>
          <a:off x="0" y="3145440"/>
          <a:ext cx="6263640" cy="786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endParaRPr lang="en-US" sz="1400" kern="1200"/>
        </a:p>
      </dsp:txBody>
      <dsp:txXfrm>
        <a:off x="0" y="3145440"/>
        <a:ext cx="6263640" cy="786192"/>
      </dsp:txXfrm>
    </dsp:sp>
    <dsp:sp modelId="{EAC42874-7784-4CDF-AC5E-F1B0443E0330}">
      <dsp:nvSpPr>
        <dsp:cNvPr id="0" name=""/>
        <dsp:cNvSpPr/>
      </dsp:nvSpPr>
      <dsp:spPr>
        <a:xfrm>
          <a:off x="0" y="3931632"/>
          <a:ext cx="626364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AB7648-7AEB-4D3C-95E7-52E5A39DD467}">
      <dsp:nvSpPr>
        <dsp:cNvPr id="0" name=""/>
        <dsp:cNvSpPr/>
      </dsp:nvSpPr>
      <dsp:spPr>
        <a:xfrm>
          <a:off x="0" y="758773"/>
          <a:ext cx="6263640" cy="786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dirty="0"/>
            <a:t>48% Patients reported Dissatisfaction with long wait times.</a:t>
          </a:r>
        </a:p>
        <a:p>
          <a:pPr marL="0" lvl="0" indent="0" algn="l" defTabSz="622300">
            <a:lnSpc>
              <a:spcPct val="90000"/>
            </a:lnSpc>
            <a:spcBef>
              <a:spcPct val="0"/>
            </a:spcBef>
            <a:spcAft>
              <a:spcPct val="35000"/>
            </a:spcAft>
            <a:buNone/>
          </a:pPr>
          <a:r>
            <a:rPr lang="en-US" sz="1400" b="1" kern="1200" dirty="0"/>
            <a:t>58% used online portals for scheduling or accessing records • Of these, 41% reported usability challenges, citing confusing navigation and login issues</a:t>
          </a:r>
        </a:p>
      </dsp:txBody>
      <dsp:txXfrm>
        <a:off x="0" y="758773"/>
        <a:ext cx="6263640" cy="786192"/>
      </dsp:txXfrm>
    </dsp:sp>
    <dsp:sp modelId="{FF1706AA-BDE7-4894-8CA1-882EA094FA25}">
      <dsp:nvSpPr>
        <dsp:cNvPr id="0" name=""/>
        <dsp:cNvSpPr/>
      </dsp:nvSpPr>
      <dsp:spPr>
        <a:xfrm>
          <a:off x="0" y="4717824"/>
          <a:ext cx="626364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5B6FFA-3AFC-4052-857D-BAE0BD3ACC6D}">
      <dsp:nvSpPr>
        <dsp:cNvPr id="0" name=""/>
        <dsp:cNvSpPr/>
      </dsp:nvSpPr>
      <dsp:spPr>
        <a:xfrm>
          <a:off x="0" y="2327643"/>
          <a:ext cx="6263640" cy="786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dirty="0"/>
            <a:t>Appointment Scheduling Delays: Patient appointment scheduling is frequently delayed.</a:t>
          </a:r>
          <a:endParaRPr lang="en-US" sz="1400" kern="1200" dirty="0"/>
        </a:p>
      </dsp:txBody>
      <dsp:txXfrm>
        <a:off x="0" y="2327643"/>
        <a:ext cx="6263640" cy="7861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8A6E5F-8432-4CEF-81B6-21B1CA8722D8}">
      <dsp:nvSpPr>
        <dsp:cNvPr id="0" name=""/>
        <dsp:cNvSpPr/>
      </dsp:nvSpPr>
      <dsp:spPr>
        <a:xfrm>
          <a:off x="0" y="123870"/>
          <a:ext cx="6900512" cy="9828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b="1" kern="1200"/>
            <a:t>Expected Outcomes:</a:t>
          </a:r>
          <a:endParaRPr lang="en-US" sz="4000" kern="1200"/>
        </a:p>
      </dsp:txBody>
      <dsp:txXfrm>
        <a:off x="47976" y="171846"/>
        <a:ext cx="6804560" cy="886848"/>
      </dsp:txXfrm>
    </dsp:sp>
    <dsp:sp modelId="{F0BA6028-C44D-443E-9E24-297F2BF120D6}">
      <dsp:nvSpPr>
        <dsp:cNvPr id="0" name=""/>
        <dsp:cNvSpPr/>
      </dsp:nvSpPr>
      <dsp:spPr>
        <a:xfrm>
          <a:off x="0" y="1106670"/>
          <a:ext cx="6900512" cy="430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50800" rIns="284480" bIns="50800" numCol="1" spcCol="1270" anchor="t" anchorCtr="0">
          <a:noAutofit/>
        </a:bodyPr>
        <a:lstStyle/>
        <a:p>
          <a:pPr marL="285750" lvl="1" indent="-285750" algn="l" defTabSz="1377950">
            <a:lnSpc>
              <a:spcPct val="90000"/>
            </a:lnSpc>
            <a:spcBef>
              <a:spcPct val="0"/>
            </a:spcBef>
            <a:spcAft>
              <a:spcPct val="20000"/>
            </a:spcAft>
            <a:buChar char="•"/>
          </a:pPr>
          <a:r>
            <a:rPr lang="en-US" sz="3100" kern="1200"/>
            <a:t>Improved patient experience through automated scheduling and virtual assistants. </a:t>
          </a:r>
        </a:p>
        <a:p>
          <a:pPr marL="285750" lvl="1" indent="-285750" algn="l" defTabSz="1377950">
            <a:lnSpc>
              <a:spcPct val="90000"/>
            </a:lnSpc>
            <a:spcBef>
              <a:spcPct val="0"/>
            </a:spcBef>
            <a:spcAft>
              <a:spcPct val="20000"/>
            </a:spcAft>
            <a:buChar char="•"/>
          </a:pPr>
          <a:r>
            <a:rPr lang="en-US" sz="3100" kern="1200"/>
            <a:t>Enhanced staff workflows and satisfaction.</a:t>
          </a:r>
        </a:p>
        <a:p>
          <a:pPr marL="285750" lvl="1" indent="-285750" algn="l" defTabSz="1377950">
            <a:lnSpc>
              <a:spcPct val="90000"/>
            </a:lnSpc>
            <a:spcBef>
              <a:spcPct val="0"/>
            </a:spcBef>
            <a:spcAft>
              <a:spcPct val="20000"/>
            </a:spcAft>
            <a:buChar char="•"/>
          </a:pPr>
          <a:r>
            <a:rPr lang="en-US" sz="3100" kern="1200"/>
            <a:t>Transparent governance and compliance reporting. </a:t>
          </a:r>
        </a:p>
        <a:p>
          <a:pPr marL="285750" lvl="1" indent="-285750" algn="l" defTabSz="1377950">
            <a:lnSpc>
              <a:spcPct val="90000"/>
            </a:lnSpc>
            <a:spcBef>
              <a:spcPct val="0"/>
            </a:spcBef>
            <a:spcAft>
              <a:spcPct val="20000"/>
            </a:spcAft>
            <a:buChar char="•"/>
          </a:pPr>
          <a:r>
            <a:rPr lang="en-US" sz="3100" kern="1200"/>
            <a:t>Scalable, standardized data architecture for future AI initiatives.</a:t>
          </a:r>
        </a:p>
      </dsp:txBody>
      <dsp:txXfrm>
        <a:off x="0" y="1106670"/>
        <a:ext cx="6900512" cy="43056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078234-CC71-42F7-A164-7DDE877D19C7}" type="datetimeFigureOut">
              <a:rPr lang="en-IN" smtClean="0"/>
              <a:t>19-11-2025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C6238D-67FA-46C4-ACFA-E970E9F94C7C}" type="slidenum">
              <a:rPr lang="en-IN" smtClean="0"/>
              <a:t>‹#›</a:t>
            </a:fld>
            <a:endParaRPr lang="en-IN"/>
          </a:p>
        </p:txBody>
      </p:sp>
    </p:spTree>
    <p:extLst>
      <p:ext uri="{BB962C8B-B14F-4D97-AF65-F5344CB8AC3E}">
        <p14:creationId xmlns:p14="http://schemas.microsoft.com/office/powerpoint/2010/main" val="1132787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1F71A-0E4B-EC90-E86C-EC9577161A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020922-035B-2E3D-5097-C8F0BCC5E3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799BF8-5722-693C-0565-A2992539EB7E}"/>
              </a:ext>
            </a:extLst>
          </p:cNvPr>
          <p:cNvSpPr>
            <a:spLocks noGrp="1"/>
          </p:cNvSpPr>
          <p:nvPr>
            <p:ph type="dt" sz="half" idx="10"/>
          </p:nvPr>
        </p:nvSpPr>
        <p:spPr/>
        <p:txBody>
          <a:bodyPr/>
          <a:lstStyle/>
          <a:p>
            <a:fld id="{D8876DCC-C704-4DD4-B43F-685667E41339}" type="datetimeFigureOut">
              <a:rPr lang="en-IN" smtClean="0"/>
              <a:t>19-11-2025</a:t>
            </a:fld>
            <a:endParaRPr lang="en-IN"/>
          </a:p>
        </p:txBody>
      </p:sp>
      <p:sp>
        <p:nvSpPr>
          <p:cNvPr id="5" name="Footer Placeholder 4">
            <a:extLst>
              <a:ext uri="{FF2B5EF4-FFF2-40B4-BE49-F238E27FC236}">
                <a16:creationId xmlns:a16="http://schemas.microsoft.com/office/drawing/2014/main" id="{FF168A1D-B594-1EDE-171C-22B7E4362E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315C00-733F-F37C-04FA-421C94072CB8}"/>
              </a:ext>
            </a:extLst>
          </p:cNvPr>
          <p:cNvSpPr>
            <a:spLocks noGrp="1"/>
          </p:cNvSpPr>
          <p:nvPr>
            <p:ph type="sldNum" sz="quarter" idx="12"/>
          </p:nvPr>
        </p:nvSpPr>
        <p:spPr/>
        <p:txBody>
          <a:bodyPr/>
          <a:lstStyle/>
          <a:p>
            <a:fld id="{564311E9-E437-4AF0-B621-F49092A9FC01}" type="slidenum">
              <a:rPr lang="en-IN" smtClean="0"/>
              <a:t>‹#›</a:t>
            </a:fld>
            <a:endParaRPr lang="en-IN"/>
          </a:p>
        </p:txBody>
      </p:sp>
    </p:spTree>
    <p:extLst>
      <p:ext uri="{BB962C8B-B14F-4D97-AF65-F5344CB8AC3E}">
        <p14:creationId xmlns:p14="http://schemas.microsoft.com/office/powerpoint/2010/main" val="1972706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70FBE-F3C2-45D1-51AE-DD5719B868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00FF14-113A-BFA1-59EF-AB9B955BFB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0BAD43-71FF-29E5-239F-5D53CF049C5A}"/>
              </a:ext>
            </a:extLst>
          </p:cNvPr>
          <p:cNvSpPr>
            <a:spLocks noGrp="1"/>
          </p:cNvSpPr>
          <p:nvPr>
            <p:ph type="dt" sz="half" idx="10"/>
          </p:nvPr>
        </p:nvSpPr>
        <p:spPr/>
        <p:txBody>
          <a:bodyPr/>
          <a:lstStyle/>
          <a:p>
            <a:fld id="{D8876DCC-C704-4DD4-B43F-685667E41339}" type="datetimeFigureOut">
              <a:rPr lang="en-IN" smtClean="0"/>
              <a:t>19-11-2025</a:t>
            </a:fld>
            <a:endParaRPr lang="en-IN"/>
          </a:p>
        </p:txBody>
      </p:sp>
      <p:sp>
        <p:nvSpPr>
          <p:cNvPr id="5" name="Footer Placeholder 4">
            <a:extLst>
              <a:ext uri="{FF2B5EF4-FFF2-40B4-BE49-F238E27FC236}">
                <a16:creationId xmlns:a16="http://schemas.microsoft.com/office/drawing/2014/main" id="{C74A518C-7D00-E6FB-57CC-7E71345A1B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73D1E5-A97D-74A2-0EC9-95A5E36AF6A2}"/>
              </a:ext>
            </a:extLst>
          </p:cNvPr>
          <p:cNvSpPr>
            <a:spLocks noGrp="1"/>
          </p:cNvSpPr>
          <p:nvPr>
            <p:ph type="sldNum" sz="quarter" idx="12"/>
          </p:nvPr>
        </p:nvSpPr>
        <p:spPr/>
        <p:txBody>
          <a:bodyPr/>
          <a:lstStyle/>
          <a:p>
            <a:fld id="{564311E9-E437-4AF0-B621-F49092A9FC01}" type="slidenum">
              <a:rPr lang="en-IN" smtClean="0"/>
              <a:t>‹#›</a:t>
            </a:fld>
            <a:endParaRPr lang="en-IN"/>
          </a:p>
        </p:txBody>
      </p:sp>
    </p:spTree>
    <p:extLst>
      <p:ext uri="{BB962C8B-B14F-4D97-AF65-F5344CB8AC3E}">
        <p14:creationId xmlns:p14="http://schemas.microsoft.com/office/powerpoint/2010/main" val="8578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D299A-7FF4-849F-2376-11962B5179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8A9ECB1-9CD9-1EF8-F07F-FF75B5207C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D3D682-A3F2-5573-76F4-FE0B1BA7FBDE}"/>
              </a:ext>
            </a:extLst>
          </p:cNvPr>
          <p:cNvSpPr>
            <a:spLocks noGrp="1"/>
          </p:cNvSpPr>
          <p:nvPr>
            <p:ph type="dt" sz="half" idx="10"/>
          </p:nvPr>
        </p:nvSpPr>
        <p:spPr/>
        <p:txBody>
          <a:bodyPr/>
          <a:lstStyle/>
          <a:p>
            <a:fld id="{D8876DCC-C704-4DD4-B43F-685667E41339}" type="datetimeFigureOut">
              <a:rPr lang="en-IN" smtClean="0"/>
              <a:t>19-11-2025</a:t>
            </a:fld>
            <a:endParaRPr lang="en-IN"/>
          </a:p>
        </p:txBody>
      </p:sp>
      <p:sp>
        <p:nvSpPr>
          <p:cNvPr id="5" name="Footer Placeholder 4">
            <a:extLst>
              <a:ext uri="{FF2B5EF4-FFF2-40B4-BE49-F238E27FC236}">
                <a16:creationId xmlns:a16="http://schemas.microsoft.com/office/drawing/2014/main" id="{A9AA672F-4398-BC57-88D7-BC962575E9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254830-9BD6-2CC5-4893-3339FEBBA345}"/>
              </a:ext>
            </a:extLst>
          </p:cNvPr>
          <p:cNvSpPr>
            <a:spLocks noGrp="1"/>
          </p:cNvSpPr>
          <p:nvPr>
            <p:ph type="sldNum" sz="quarter" idx="12"/>
          </p:nvPr>
        </p:nvSpPr>
        <p:spPr/>
        <p:txBody>
          <a:bodyPr/>
          <a:lstStyle/>
          <a:p>
            <a:fld id="{564311E9-E437-4AF0-B621-F49092A9FC01}" type="slidenum">
              <a:rPr lang="en-IN" smtClean="0"/>
              <a:t>‹#›</a:t>
            </a:fld>
            <a:endParaRPr lang="en-IN"/>
          </a:p>
        </p:txBody>
      </p:sp>
    </p:spTree>
    <p:extLst>
      <p:ext uri="{BB962C8B-B14F-4D97-AF65-F5344CB8AC3E}">
        <p14:creationId xmlns:p14="http://schemas.microsoft.com/office/powerpoint/2010/main" val="3251848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1BB7B-9541-2EEE-92E5-64D564FB1C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C7B388-C9C7-494B-631B-A09EBC2373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1E14030-4377-84B3-8D12-25D1865789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D791F99-8359-3999-A5DD-30E9D9C68499}"/>
              </a:ext>
            </a:extLst>
          </p:cNvPr>
          <p:cNvSpPr>
            <a:spLocks noGrp="1"/>
          </p:cNvSpPr>
          <p:nvPr>
            <p:ph type="dt" sz="half" idx="10"/>
          </p:nvPr>
        </p:nvSpPr>
        <p:spPr/>
        <p:txBody>
          <a:bodyPr/>
          <a:lstStyle/>
          <a:p>
            <a:fld id="{D8876DCC-C704-4DD4-B43F-685667E41339}" type="datetimeFigureOut">
              <a:rPr lang="en-IN" smtClean="0"/>
              <a:t>19-11-2025</a:t>
            </a:fld>
            <a:endParaRPr lang="en-IN"/>
          </a:p>
        </p:txBody>
      </p:sp>
      <p:sp>
        <p:nvSpPr>
          <p:cNvPr id="6" name="Footer Placeholder 5">
            <a:extLst>
              <a:ext uri="{FF2B5EF4-FFF2-40B4-BE49-F238E27FC236}">
                <a16:creationId xmlns:a16="http://schemas.microsoft.com/office/drawing/2014/main" id="{A933352D-6026-FAC8-D0E0-83D5D6636B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571210-CAAC-FAB4-26A0-90ACA7B6602F}"/>
              </a:ext>
            </a:extLst>
          </p:cNvPr>
          <p:cNvSpPr>
            <a:spLocks noGrp="1"/>
          </p:cNvSpPr>
          <p:nvPr>
            <p:ph type="sldNum" sz="quarter" idx="12"/>
          </p:nvPr>
        </p:nvSpPr>
        <p:spPr/>
        <p:txBody>
          <a:bodyPr/>
          <a:lstStyle/>
          <a:p>
            <a:fld id="{564311E9-E437-4AF0-B621-F49092A9FC01}" type="slidenum">
              <a:rPr lang="en-IN" smtClean="0"/>
              <a:t>‹#›</a:t>
            </a:fld>
            <a:endParaRPr lang="en-IN"/>
          </a:p>
        </p:txBody>
      </p:sp>
    </p:spTree>
    <p:extLst>
      <p:ext uri="{BB962C8B-B14F-4D97-AF65-F5344CB8AC3E}">
        <p14:creationId xmlns:p14="http://schemas.microsoft.com/office/powerpoint/2010/main" val="3561931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B950E-89D2-2E94-EF96-EE261B699DA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E8FC69-C0EF-9671-31FE-9D2BBFEE7C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C8C296-C9D3-8D4E-08D0-7C2C0D7CCA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81C968B-7CB5-A8EC-66D5-C4CF5C3CF9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5B28AF-56D9-82D8-197E-B800D9CEE4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A70F7D3-BEF2-1EC9-6597-648106E58CBC}"/>
              </a:ext>
            </a:extLst>
          </p:cNvPr>
          <p:cNvSpPr>
            <a:spLocks noGrp="1"/>
          </p:cNvSpPr>
          <p:nvPr>
            <p:ph type="dt" sz="half" idx="10"/>
          </p:nvPr>
        </p:nvSpPr>
        <p:spPr/>
        <p:txBody>
          <a:bodyPr/>
          <a:lstStyle/>
          <a:p>
            <a:fld id="{D8876DCC-C704-4DD4-B43F-685667E41339}" type="datetimeFigureOut">
              <a:rPr lang="en-IN" smtClean="0"/>
              <a:t>19-11-2025</a:t>
            </a:fld>
            <a:endParaRPr lang="en-IN"/>
          </a:p>
        </p:txBody>
      </p:sp>
      <p:sp>
        <p:nvSpPr>
          <p:cNvPr id="8" name="Footer Placeholder 7">
            <a:extLst>
              <a:ext uri="{FF2B5EF4-FFF2-40B4-BE49-F238E27FC236}">
                <a16:creationId xmlns:a16="http://schemas.microsoft.com/office/drawing/2014/main" id="{C7A1DFBF-1D3A-CF36-B6C2-52ACE4D4BC7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B106B09-EE13-0F9B-1456-477DD395442D}"/>
              </a:ext>
            </a:extLst>
          </p:cNvPr>
          <p:cNvSpPr>
            <a:spLocks noGrp="1"/>
          </p:cNvSpPr>
          <p:nvPr>
            <p:ph type="sldNum" sz="quarter" idx="12"/>
          </p:nvPr>
        </p:nvSpPr>
        <p:spPr/>
        <p:txBody>
          <a:bodyPr/>
          <a:lstStyle/>
          <a:p>
            <a:fld id="{564311E9-E437-4AF0-B621-F49092A9FC01}" type="slidenum">
              <a:rPr lang="en-IN" smtClean="0"/>
              <a:t>‹#›</a:t>
            </a:fld>
            <a:endParaRPr lang="en-IN"/>
          </a:p>
        </p:txBody>
      </p:sp>
    </p:spTree>
    <p:extLst>
      <p:ext uri="{BB962C8B-B14F-4D97-AF65-F5344CB8AC3E}">
        <p14:creationId xmlns:p14="http://schemas.microsoft.com/office/powerpoint/2010/main" val="633170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8A345-E1E1-DCAE-E6D5-04799699ECA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535C1AE-08E5-0E53-3761-A02D7BCBD1F3}"/>
              </a:ext>
            </a:extLst>
          </p:cNvPr>
          <p:cNvSpPr>
            <a:spLocks noGrp="1"/>
          </p:cNvSpPr>
          <p:nvPr>
            <p:ph type="dt" sz="half" idx="10"/>
          </p:nvPr>
        </p:nvSpPr>
        <p:spPr/>
        <p:txBody>
          <a:bodyPr/>
          <a:lstStyle/>
          <a:p>
            <a:fld id="{D8876DCC-C704-4DD4-B43F-685667E41339}" type="datetimeFigureOut">
              <a:rPr lang="en-IN" smtClean="0"/>
              <a:t>19-11-2025</a:t>
            </a:fld>
            <a:endParaRPr lang="en-IN"/>
          </a:p>
        </p:txBody>
      </p:sp>
      <p:sp>
        <p:nvSpPr>
          <p:cNvPr id="4" name="Footer Placeholder 3">
            <a:extLst>
              <a:ext uri="{FF2B5EF4-FFF2-40B4-BE49-F238E27FC236}">
                <a16:creationId xmlns:a16="http://schemas.microsoft.com/office/drawing/2014/main" id="{300B22A2-8960-0E80-D388-C214593455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5E9F793-F922-D210-FA36-B4975E1DD4CA}"/>
              </a:ext>
            </a:extLst>
          </p:cNvPr>
          <p:cNvSpPr>
            <a:spLocks noGrp="1"/>
          </p:cNvSpPr>
          <p:nvPr>
            <p:ph type="sldNum" sz="quarter" idx="12"/>
          </p:nvPr>
        </p:nvSpPr>
        <p:spPr/>
        <p:txBody>
          <a:bodyPr/>
          <a:lstStyle/>
          <a:p>
            <a:fld id="{564311E9-E437-4AF0-B621-F49092A9FC01}" type="slidenum">
              <a:rPr lang="en-IN" smtClean="0"/>
              <a:t>‹#›</a:t>
            </a:fld>
            <a:endParaRPr lang="en-IN"/>
          </a:p>
        </p:txBody>
      </p:sp>
    </p:spTree>
    <p:extLst>
      <p:ext uri="{BB962C8B-B14F-4D97-AF65-F5344CB8AC3E}">
        <p14:creationId xmlns:p14="http://schemas.microsoft.com/office/powerpoint/2010/main" val="164595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D1AEEB-82A5-97D4-D793-8E8D2B5B94AA}"/>
              </a:ext>
            </a:extLst>
          </p:cNvPr>
          <p:cNvSpPr>
            <a:spLocks noGrp="1"/>
          </p:cNvSpPr>
          <p:nvPr>
            <p:ph type="dt" sz="half" idx="10"/>
          </p:nvPr>
        </p:nvSpPr>
        <p:spPr/>
        <p:txBody>
          <a:bodyPr/>
          <a:lstStyle/>
          <a:p>
            <a:fld id="{D8876DCC-C704-4DD4-B43F-685667E41339}" type="datetimeFigureOut">
              <a:rPr lang="en-IN" smtClean="0"/>
              <a:t>19-11-2025</a:t>
            </a:fld>
            <a:endParaRPr lang="en-IN"/>
          </a:p>
        </p:txBody>
      </p:sp>
      <p:sp>
        <p:nvSpPr>
          <p:cNvPr id="3" name="Footer Placeholder 2">
            <a:extLst>
              <a:ext uri="{FF2B5EF4-FFF2-40B4-BE49-F238E27FC236}">
                <a16:creationId xmlns:a16="http://schemas.microsoft.com/office/drawing/2014/main" id="{C92E1D6D-7B5C-A8C5-3375-BDE4921501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A8968B1-1BB5-3B2C-F6B9-FA4004F0DCFA}"/>
              </a:ext>
            </a:extLst>
          </p:cNvPr>
          <p:cNvSpPr>
            <a:spLocks noGrp="1"/>
          </p:cNvSpPr>
          <p:nvPr>
            <p:ph type="sldNum" sz="quarter" idx="12"/>
          </p:nvPr>
        </p:nvSpPr>
        <p:spPr/>
        <p:txBody>
          <a:bodyPr/>
          <a:lstStyle/>
          <a:p>
            <a:fld id="{564311E9-E437-4AF0-B621-F49092A9FC01}" type="slidenum">
              <a:rPr lang="en-IN" smtClean="0"/>
              <a:t>‹#›</a:t>
            </a:fld>
            <a:endParaRPr lang="en-IN"/>
          </a:p>
        </p:txBody>
      </p:sp>
    </p:spTree>
    <p:extLst>
      <p:ext uri="{BB962C8B-B14F-4D97-AF65-F5344CB8AC3E}">
        <p14:creationId xmlns:p14="http://schemas.microsoft.com/office/powerpoint/2010/main" val="1545274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C0C98-599D-50C9-B08E-E104DF656F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7E35585-77C5-6522-49AF-3E6B204588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442952-D670-A734-BE9F-26672D135E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F52B08-4F44-EF6B-0495-FB6A36C62C57}"/>
              </a:ext>
            </a:extLst>
          </p:cNvPr>
          <p:cNvSpPr>
            <a:spLocks noGrp="1"/>
          </p:cNvSpPr>
          <p:nvPr>
            <p:ph type="dt" sz="half" idx="10"/>
          </p:nvPr>
        </p:nvSpPr>
        <p:spPr/>
        <p:txBody>
          <a:bodyPr/>
          <a:lstStyle/>
          <a:p>
            <a:fld id="{D8876DCC-C704-4DD4-B43F-685667E41339}" type="datetimeFigureOut">
              <a:rPr lang="en-IN" smtClean="0"/>
              <a:t>19-11-2025</a:t>
            </a:fld>
            <a:endParaRPr lang="en-IN"/>
          </a:p>
        </p:txBody>
      </p:sp>
      <p:sp>
        <p:nvSpPr>
          <p:cNvPr id="6" name="Footer Placeholder 5">
            <a:extLst>
              <a:ext uri="{FF2B5EF4-FFF2-40B4-BE49-F238E27FC236}">
                <a16:creationId xmlns:a16="http://schemas.microsoft.com/office/drawing/2014/main" id="{C577AC8D-B167-E1DC-65B5-9346BD9AF9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D3399E-F929-6877-9041-468F42328309}"/>
              </a:ext>
            </a:extLst>
          </p:cNvPr>
          <p:cNvSpPr>
            <a:spLocks noGrp="1"/>
          </p:cNvSpPr>
          <p:nvPr>
            <p:ph type="sldNum" sz="quarter" idx="12"/>
          </p:nvPr>
        </p:nvSpPr>
        <p:spPr/>
        <p:txBody>
          <a:bodyPr/>
          <a:lstStyle/>
          <a:p>
            <a:fld id="{564311E9-E437-4AF0-B621-F49092A9FC01}" type="slidenum">
              <a:rPr lang="en-IN" smtClean="0"/>
              <a:t>‹#›</a:t>
            </a:fld>
            <a:endParaRPr lang="en-IN"/>
          </a:p>
        </p:txBody>
      </p:sp>
    </p:spTree>
    <p:extLst>
      <p:ext uri="{BB962C8B-B14F-4D97-AF65-F5344CB8AC3E}">
        <p14:creationId xmlns:p14="http://schemas.microsoft.com/office/powerpoint/2010/main" val="3480600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D008C-8194-351E-E5CC-F7243452A1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F0E3C0-5F87-9529-8C49-68DF2382F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97A6443-480E-A75A-4924-C5D2628EF6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E73377-9283-1036-A95B-D6815E27F812}"/>
              </a:ext>
            </a:extLst>
          </p:cNvPr>
          <p:cNvSpPr>
            <a:spLocks noGrp="1"/>
          </p:cNvSpPr>
          <p:nvPr>
            <p:ph type="dt" sz="half" idx="10"/>
          </p:nvPr>
        </p:nvSpPr>
        <p:spPr/>
        <p:txBody>
          <a:bodyPr/>
          <a:lstStyle/>
          <a:p>
            <a:fld id="{D8876DCC-C704-4DD4-B43F-685667E41339}" type="datetimeFigureOut">
              <a:rPr lang="en-IN" smtClean="0"/>
              <a:t>19-11-2025</a:t>
            </a:fld>
            <a:endParaRPr lang="en-IN"/>
          </a:p>
        </p:txBody>
      </p:sp>
      <p:sp>
        <p:nvSpPr>
          <p:cNvPr id="6" name="Footer Placeholder 5">
            <a:extLst>
              <a:ext uri="{FF2B5EF4-FFF2-40B4-BE49-F238E27FC236}">
                <a16:creationId xmlns:a16="http://schemas.microsoft.com/office/drawing/2014/main" id="{FFA504FE-1BED-EEE4-A620-9A5324EE15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E418B4-C43F-90FF-34C1-6179A69A0540}"/>
              </a:ext>
            </a:extLst>
          </p:cNvPr>
          <p:cNvSpPr>
            <a:spLocks noGrp="1"/>
          </p:cNvSpPr>
          <p:nvPr>
            <p:ph type="sldNum" sz="quarter" idx="12"/>
          </p:nvPr>
        </p:nvSpPr>
        <p:spPr/>
        <p:txBody>
          <a:bodyPr/>
          <a:lstStyle/>
          <a:p>
            <a:fld id="{564311E9-E437-4AF0-B621-F49092A9FC01}" type="slidenum">
              <a:rPr lang="en-IN" smtClean="0"/>
              <a:t>‹#›</a:t>
            </a:fld>
            <a:endParaRPr lang="en-IN"/>
          </a:p>
        </p:txBody>
      </p:sp>
    </p:spTree>
    <p:extLst>
      <p:ext uri="{BB962C8B-B14F-4D97-AF65-F5344CB8AC3E}">
        <p14:creationId xmlns:p14="http://schemas.microsoft.com/office/powerpoint/2010/main" val="2639973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A3B90-6CD3-357D-D26A-543C7C65D4A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DFACF3-2FB3-69D9-434B-86A78726D5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7174C4-0B1F-ACE6-6FE2-2F877BDD5052}"/>
              </a:ext>
            </a:extLst>
          </p:cNvPr>
          <p:cNvSpPr>
            <a:spLocks noGrp="1"/>
          </p:cNvSpPr>
          <p:nvPr>
            <p:ph type="dt" sz="half" idx="10"/>
          </p:nvPr>
        </p:nvSpPr>
        <p:spPr/>
        <p:txBody>
          <a:bodyPr/>
          <a:lstStyle/>
          <a:p>
            <a:fld id="{D8876DCC-C704-4DD4-B43F-685667E41339}" type="datetimeFigureOut">
              <a:rPr lang="en-IN" smtClean="0"/>
              <a:t>19-11-2025</a:t>
            </a:fld>
            <a:endParaRPr lang="en-IN"/>
          </a:p>
        </p:txBody>
      </p:sp>
      <p:sp>
        <p:nvSpPr>
          <p:cNvPr id="5" name="Footer Placeholder 4">
            <a:extLst>
              <a:ext uri="{FF2B5EF4-FFF2-40B4-BE49-F238E27FC236}">
                <a16:creationId xmlns:a16="http://schemas.microsoft.com/office/drawing/2014/main" id="{30EC71AF-0D67-1F5D-8998-459B4ED086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0FFB66-47E7-D6CA-6513-8CC29C3E0CBA}"/>
              </a:ext>
            </a:extLst>
          </p:cNvPr>
          <p:cNvSpPr>
            <a:spLocks noGrp="1"/>
          </p:cNvSpPr>
          <p:nvPr>
            <p:ph type="sldNum" sz="quarter" idx="12"/>
          </p:nvPr>
        </p:nvSpPr>
        <p:spPr/>
        <p:txBody>
          <a:bodyPr/>
          <a:lstStyle/>
          <a:p>
            <a:fld id="{564311E9-E437-4AF0-B621-F49092A9FC01}" type="slidenum">
              <a:rPr lang="en-IN" smtClean="0"/>
              <a:t>‹#›</a:t>
            </a:fld>
            <a:endParaRPr lang="en-IN"/>
          </a:p>
        </p:txBody>
      </p:sp>
    </p:spTree>
    <p:extLst>
      <p:ext uri="{BB962C8B-B14F-4D97-AF65-F5344CB8AC3E}">
        <p14:creationId xmlns:p14="http://schemas.microsoft.com/office/powerpoint/2010/main" val="1068980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713F25-61D0-F6EF-F06E-FC0A349596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8F26FE-1199-A8B5-490F-4978E042FC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FED4D8-3C21-1D2B-1AEA-BB864D0ECD38}"/>
              </a:ext>
            </a:extLst>
          </p:cNvPr>
          <p:cNvSpPr>
            <a:spLocks noGrp="1"/>
          </p:cNvSpPr>
          <p:nvPr>
            <p:ph type="dt" sz="half" idx="10"/>
          </p:nvPr>
        </p:nvSpPr>
        <p:spPr/>
        <p:txBody>
          <a:bodyPr/>
          <a:lstStyle/>
          <a:p>
            <a:fld id="{D8876DCC-C704-4DD4-B43F-685667E41339}" type="datetimeFigureOut">
              <a:rPr lang="en-IN" smtClean="0"/>
              <a:t>19-11-2025</a:t>
            </a:fld>
            <a:endParaRPr lang="en-IN"/>
          </a:p>
        </p:txBody>
      </p:sp>
      <p:sp>
        <p:nvSpPr>
          <p:cNvPr id="5" name="Footer Placeholder 4">
            <a:extLst>
              <a:ext uri="{FF2B5EF4-FFF2-40B4-BE49-F238E27FC236}">
                <a16:creationId xmlns:a16="http://schemas.microsoft.com/office/drawing/2014/main" id="{C8A5AB0D-8533-2FE7-EE9E-2767701C31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3DC190-8686-6A83-FFD3-B504920DDEC8}"/>
              </a:ext>
            </a:extLst>
          </p:cNvPr>
          <p:cNvSpPr>
            <a:spLocks noGrp="1"/>
          </p:cNvSpPr>
          <p:nvPr>
            <p:ph type="sldNum" sz="quarter" idx="12"/>
          </p:nvPr>
        </p:nvSpPr>
        <p:spPr/>
        <p:txBody>
          <a:bodyPr/>
          <a:lstStyle/>
          <a:p>
            <a:fld id="{564311E9-E437-4AF0-B621-F49092A9FC01}" type="slidenum">
              <a:rPr lang="en-IN" smtClean="0"/>
              <a:t>‹#›</a:t>
            </a:fld>
            <a:endParaRPr lang="en-IN"/>
          </a:p>
        </p:txBody>
      </p:sp>
    </p:spTree>
    <p:extLst>
      <p:ext uri="{BB962C8B-B14F-4D97-AF65-F5344CB8AC3E}">
        <p14:creationId xmlns:p14="http://schemas.microsoft.com/office/powerpoint/2010/main" val="2408034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D00A64-7E75-3917-A505-B82B19577B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648009-DF09-4231-4AF3-E55E607994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0E0258-A286-1501-0BBF-2E32428AD4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876DCC-C704-4DD4-B43F-685667E41339}" type="datetimeFigureOut">
              <a:rPr lang="en-IN" smtClean="0"/>
              <a:t>19-11-2025</a:t>
            </a:fld>
            <a:endParaRPr lang="en-IN"/>
          </a:p>
        </p:txBody>
      </p:sp>
      <p:sp>
        <p:nvSpPr>
          <p:cNvPr id="5" name="Footer Placeholder 4">
            <a:extLst>
              <a:ext uri="{FF2B5EF4-FFF2-40B4-BE49-F238E27FC236}">
                <a16:creationId xmlns:a16="http://schemas.microsoft.com/office/drawing/2014/main" id="{03F3433B-2763-F4FF-8F84-F599E82E0C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0940839-46A8-4A20-64BE-7B780EB40D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4311E9-E437-4AF0-B621-F49092A9FC01}" type="slidenum">
              <a:rPr lang="en-IN" smtClean="0"/>
              <a:t>‹#›</a:t>
            </a:fld>
            <a:endParaRPr lang="en-IN"/>
          </a:p>
        </p:txBody>
      </p:sp>
    </p:spTree>
    <p:extLst>
      <p:ext uri="{BB962C8B-B14F-4D97-AF65-F5344CB8AC3E}">
        <p14:creationId xmlns:p14="http://schemas.microsoft.com/office/powerpoint/2010/main" val="2461414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AC9883E-0761-6EE1-0864-0A37F0BF665D}"/>
              </a:ext>
            </a:extLst>
          </p:cNvPr>
          <p:cNvSpPr>
            <a:spLocks noGrp="1"/>
          </p:cNvSpPr>
          <p:nvPr>
            <p:ph type="ctrTitle"/>
          </p:nvPr>
        </p:nvSpPr>
        <p:spPr>
          <a:xfrm>
            <a:off x="1524003" y="1999615"/>
            <a:ext cx="9144000" cy="2764028"/>
          </a:xfrm>
        </p:spPr>
        <p:txBody>
          <a:bodyPr anchor="ctr">
            <a:normAutofit/>
          </a:bodyPr>
          <a:lstStyle/>
          <a:p>
            <a:r>
              <a:rPr lang="en-IN" sz="7200" dirty="0" err="1"/>
              <a:t>HelathCareOne</a:t>
            </a:r>
            <a:endParaRPr lang="en-IN" sz="7200" dirty="0"/>
          </a:p>
        </p:txBody>
      </p:sp>
      <p:sp>
        <p:nvSpPr>
          <p:cNvPr id="3" name="Subtitle 2">
            <a:extLst>
              <a:ext uri="{FF2B5EF4-FFF2-40B4-BE49-F238E27FC236}">
                <a16:creationId xmlns:a16="http://schemas.microsoft.com/office/drawing/2014/main" id="{A1991406-E739-6379-7DAB-3B5F8A8B009C}"/>
              </a:ext>
            </a:extLst>
          </p:cNvPr>
          <p:cNvSpPr>
            <a:spLocks noGrp="1"/>
          </p:cNvSpPr>
          <p:nvPr>
            <p:ph type="subTitle" idx="1"/>
          </p:nvPr>
        </p:nvSpPr>
        <p:spPr>
          <a:xfrm>
            <a:off x="1966912" y="5645150"/>
            <a:ext cx="8258176" cy="631825"/>
          </a:xfrm>
        </p:spPr>
        <p:txBody>
          <a:bodyPr anchor="ctr">
            <a:normAutofit/>
          </a:bodyPr>
          <a:lstStyle/>
          <a:p>
            <a:r>
              <a:rPr lang="en-US" sz="2800"/>
              <a:t>Navigating the AI Transformation Journey</a:t>
            </a:r>
            <a:endParaRPr lang="en-IN" sz="2800"/>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509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57ADDC-FCC6-9499-E4AE-BAB60D0200E9}"/>
            </a:ext>
          </a:extLst>
        </p:cNvPr>
        <p:cNvGrpSpPr/>
        <p:nvPr/>
      </p:nvGrpSpPr>
      <p:grpSpPr>
        <a:xfrm>
          <a:off x="0" y="0"/>
          <a:ext cx="0" cy="0"/>
          <a:chOff x="0" y="0"/>
          <a:chExt cx="0" cy="0"/>
        </a:xfrm>
      </p:grpSpPr>
      <p:sp useBgFill="1">
        <p:nvSpPr>
          <p:cNvPr id="83" name="Rectangle 8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5" name="Rectangle 8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7" name="Rectangle 8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FD5A5D03-92FE-C140-61B9-392930D7964D}"/>
              </a:ext>
            </a:extLst>
          </p:cNvPr>
          <p:cNvSpPr txBox="1"/>
          <p:nvPr/>
        </p:nvSpPr>
        <p:spPr>
          <a:xfrm>
            <a:off x="1115568" y="548640"/>
            <a:ext cx="10168128" cy="117957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a:solidFill>
                  <a:schemeClr val="tx1"/>
                </a:solidFill>
                <a:latin typeface="+mj-lt"/>
                <a:ea typeface="+mj-ea"/>
                <a:cs typeface="+mj-cs"/>
              </a:rPr>
              <a:t>Problem Statement</a:t>
            </a:r>
          </a:p>
          <a:p>
            <a:pPr>
              <a:lnSpc>
                <a:spcPct val="90000"/>
              </a:lnSpc>
              <a:spcBef>
                <a:spcPct val="0"/>
              </a:spcBef>
              <a:spcAft>
                <a:spcPts val="600"/>
              </a:spcAft>
            </a:pPr>
            <a:endParaRPr lang="en-US" sz="4000" kern="1200">
              <a:solidFill>
                <a:schemeClr val="tx1"/>
              </a:solidFill>
              <a:latin typeface="+mj-lt"/>
              <a:ea typeface="+mj-ea"/>
              <a:cs typeface="+mj-cs"/>
            </a:endParaRPr>
          </a:p>
        </p:txBody>
      </p:sp>
      <p:sp>
        <p:nvSpPr>
          <p:cNvPr id="89" name="Rectangle 8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C803D5F8-23E3-43A5-538E-121421B71598}"/>
              </a:ext>
            </a:extLst>
          </p:cNvPr>
          <p:cNvSpPr txBox="1"/>
          <p:nvPr/>
        </p:nvSpPr>
        <p:spPr>
          <a:xfrm>
            <a:off x="1115568" y="2481943"/>
            <a:ext cx="10168128" cy="369502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endParaRPr lang="en-US" sz="2200"/>
          </a:p>
          <a:p>
            <a:pPr indent="-228600">
              <a:lnSpc>
                <a:spcPct val="90000"/>
              </a:lnSpc>
              <a:spcAft>
                <a:spcPts val="600"/>
              </a:spcAft>
              <a:buFont typeface="Arial" panose="020B0604020202020204" pitchFamily="34" charset="0"/>
              <a:buChar char="•"/>
            </a:pPr>
            <a:r>
              <a:rPr lang="en-US" sz="2200"/>
              <a:t>Imagine a vast public health system—HealthCareOne—serving over 8 million residents through hospitals, clinics, and virtual care. Every day, their teams face mounting pressures: rising costs, staff burnout, and the challenge of delivering consistent, high-quality care to every patient.</a:t>
            </a:r>
          </a:p>
          <a:p>
            <a:pPr indent="-228600">
              <a:lnSpc>
                <a:spcPct val="90000"/>
              </a:lnSpc>
              <a:spcAft>
                <a:spcPts val="600"/>
              </a:spcAft>
              <a:buFont typeface="Arial" panose="020B0604020202020204" pitchFamily="34" charset="0"/>
              <a:buChar char="•"/>
            </a:pPr>
            <a:endParaRPr lang="en-US" sz="2200"/>
          </a:p>
          <a:p>
            <a:pPr indent="-228600">
              <a:lnSpc>
                <a:spcPct val="90000"/>
              </a:lnSpc>
              <a:spcAft>
                <a:spcPts val="600"/>
              </a:spcAft>
              <a:buFont typeface="Arial" panose="020B0604020202020204" pitchFamily="34" charset="0"/>
              <a:buChar char="•"/>
            </a:pPr>
            <a:r>
              <a:rPr lang="en-US" sz="2200"/>
              <a:t>HealthCareOne’s leaders know that something must change. Operational inefficiencies are draining resources, patient wait times fluctuate unpredictably, and clinicians are overwhelmed by administrative tasks. Staff turnover is high, and unions are pushing back against changes that don’t involve them. Meanwhile, past attempts to use AI have failed, leaving many skeptical about new technology.</a:t>
            </a:r>
          </a:p>
        </p:txBody>
      </p:sp>
    </p:spTree>
    <p:extLst>
      <p:ext uri="{BB962C8B-B14F-4D97-AF65-F5344CB8AC3E}">
        <p14:creationId xmlns:p14="http://schemas.microsoft.com/office/powerpoint/2010/main" val="2685761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84D8C0D-A69E-0E86-85C6-1B60917CD17F}"/>
              </a:ext>
            </a:extLst>
          </p:cNvPr>
          <p:cNvSpPr txBox="1"/>
          <p:nvPr/>
        </p:nvSpPr>
        <p:spPr>
          <a:xfrm>
            <a:off x="803775" y="1106007"/>
            <a:ext cx="10550025" cy="118292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600" b="1" kern="1200">
                <a:solidFill>
                  <a:schemeClr val="tx1"/>
                </a:solidFill>
                <a:latin typeface="+mj-lt"/>
                <a:ea typeface="+mj-ea"/>
                <a:cs typeface="+mj-cs"/>
              </a:rPr>
              <a:t>Existing Solution: CareIntel</a:t>
            </a:r>
          </a:p>
          <a:p>
            <a:pPr>
              <a:lnSpc>
                <a:spcPct val="90000"/>
              </a:lnSpc>
              <a:spcBef>
                <a:spcPct val="0"/>
              </a:spcBef>
              <a:spcAft>
                <a:spcPts val="600"/>
              </a:spcAft>
            </a:pPr>
            <a:endParaRPr lang="en-US" sz="5600" kern="1200">
              <a:solidFill>
                <a:schemeClr val="tx1"/>
              </a:solidFill>
              <a:latin typeface="+mj-lt"/>
              <a:ea typeface="+mj-ea"/>
              <a:cs typeface="+mj-cs"/>
            </a:endParaRPr>
          </a:p>
        </p:txBody>
      </p:sp>
      <p:cxnSp>
        <p:nvCxnSpPr>
          <p:cNvPr id="11" name="Straight Connector 10">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41B7EF7-09B9-2127-180A-D9842A4CC83E}"/>
              </a:ext>
            </a:extLst>
          </p:cNvPr>
          <p:cNvSpPr txBox="1"/>
          <p:nvPr/>
        </p:nvSpPr>
        <p:spPr>
          <a:xfrm>
            <a:off x="803775" y="2598947"/>
            <a:ext cx="10550025" cy="367734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dirty="0" err="1">
                <a:solidFill>
                  <a:schemeClr val="tx1">
                    <a:alpha val="80000"/>
                  </a:schemeClr>
                </a:solidFill>
              </a:rPr>
              <a:t>HealthCareOne</a:t>
            </a:r>
            <a:r>
              <a:rPr lang="en-US" sz="2000" dirty="0">
                <a:solidFill>
                  <a:schemeClr val="tx1">
                    <a:alpha val="80000"/>
                  </a:schemeClr>
                </a:solidFill>
              </a:rPr>
              <a:t> is considering </a:t>
            </a:r>
            <a:r>
              <a:rPr lang="en-US" sz="2000" dirty="0" err="1">
                <a:solidFill>
                  <a:schemeClr val="tx1">
                    <a:alpha val="80000"/>
                  </a:schemeClr>
                </a:solidFill>
              </a:rPr>
              <a:t>CareIntel</a:t>
            </a:r>
            <a:r>
              <a:rPr lang="en-US" sz="2000" dirty="0">
                <a:solidFill>
                  <a:schemeClr val="tx1">
                    <a:alpha val="80000"/>
                  </a:schemeClr>
                </a:solidFill>
              </a:rPr>
              <a:t>, an integrated AI platform offering:</a:t>
            </a:r>
          </a:p>
          <a:p>
            <a:pPr indent="-228600">
              <a:lnSpc>
                <a:spcPct val="90000"/>
              </a:lnSpc>
              <a:spcAft>
                <a:spcPts val="600"/>
              </a:spcAft>
              <a:buFont typeface="Arial" panose="020B0604020202020204" pitchFamily="34" charset="0"/>
              <a:buChar char="•"/>
            </a:pPr>
            <a:r>
              <a:rPr lang="en-US" sz="2000" dirty="0">
                <a:solidFill>
                  <a:schemeClr val="tx1">
                    <a:alpha val="80000"/>
                  </a:schemeClr>
                </a:solidFill>
              </a:rPr>
              <a:t>Predictive analytics for workforce planning</a:t>
            </a:r>
          </a:p>
          <a:p>
            <a:pPr indent="-228600">
              <a:lnSpc>
                <a:spcPct val="90000"/>
              </a:lnSpc>
              <a:spcAft>
                <a:spcPts val="600"/>
              </a:spcAft>
              <a:buFont typeface="Arial" panose="020B0604020202020204" pitchFamily="34" charset="0"/>
              <a:buChar char="•"/>
            </a:pPr>
            <a:r>
              <a:rPr lang="en-US" sz="2000" dirty="0">
                <a:solidFill>
                  <a:schemeClr val="tx1">
                    <a:alpha val="80000"/>
                  </a:schemeClr>
                </a:solidFill>
              </a:rPr>
              <a:t>Workflow automation for documentation and scheduling</a:t>
            </a:r>
          </a:p>
          <a:p>
            <a:pPr indent="-228600">
              <a:lnSpc>
                <a:spcPct val="90000"/>
              </a:lnSpc>
              <a:spcAft>
                <a:spcPts val="600"/>
              </a:spcAft>
              <a:buFont typeface="Arial" panose="020B0604020202020204" pitchFamily="34" charset="0"/>
              <a:buChar char="•"/>
            </a:pPr>
            <a:r>
              <a:rPr lang="en-US" sz="2000" dirty="0">
                <a:solidFill>
                  <a:schemeClr val="tx1">
                    <a:alpha val="80000"/>
                  </a:schemeClr>
                </a:solidFill>
              </a:rPr>
              <a:t>Virtual assistants for patient support</a:t>
            </a:r>
          </a:p>
          <a:p>
            <a:pPr indent="-228600">
              <a:lnSpc>
                <a:spcPct val="90000"/>
              </a:lnSpc>
              <a:spcAft>
                <a:spcPts val="600"/>
              </a:spcAft>
              <a:buFont typeface="Arial" panose="020B0604020202020204" pitchFamily="34" charset="0"/>
              <a:buChar char="•"/>
            </a:pPr>
            <a:r>
              <a:rPr lang="en-US" sz="2000" dirty="0">
                <a:solidFill>
                  <a:schemeClr val="tx1">
                    <a:alpha val="80000"/>
                  </a:schemeClr>
                </a:solidFill>
              </a:rPr>
              <a:t>Acuity-based triage and prioritization</a:t>
            </a:r>
          </a:p>
          <a:p>
            <a:pPr indent="-228600">
              <a:lnSpc>
                <a:spcPct val="90000"/>
              </a:lnSpc>
              <a:spcAft>
                <a:spcPts val="600"/>
              </a:spcAft>
              <a:buFont typeface="Arial" panose="020B0604020202020204" pitchFamily="34" charset="0"/>
              <a:buChar char="•"/>
            </a:pPr>
            <a:r>
              <a:rPr lang="en-US" sz="2000" dirty="0" err="1">
                <a:solidFill>
                  <a:schemeClr val="tx1">
                    <a:alpha val="80000"/>
                  </a:schemeClr>
                </a:solidFill>
              </a:rPr>
              <a:t>CareIntel</a:t>
            </a:r>
            <a:r>
              <a:rPr lang="en-US" sz="2000" dirty="0">
                <a:solidFill>
                  <a:schemeClr val="tx1">
                    <a:alpha val="80000"/>
                  </a:schemeClr>
                </a:solidFill>
              </a:rPr>
              <a:t> aims to deliver:</a:t>
            </a:r>
          </a:p>
          <a:p>
            <a:pPr indent="-228600">
              <a:lnSpc>
                <a:spcPct val="90000"/>
              </a:lnSpc>
              <a:spcAft>
                <a:spcPts val="600"/>
              </a:spcAft>
              <a:buFont typeface="Arial" panose="020B0604020202020204" pitchFamily="34" charset="0"/>
              <a:buChar char="•"/>
            </a:pPr>
            <a:r>
              <a:rPr lang="en-US" sz="2000" dirty="0">
                <a:solidFill>
                  <a:schemeClr val="tx1">
                    <a:alpha val="80000"/>
                  </a:schemeClr>
                </a:solidFill>
              </a:rPr>
              <a:t>Over $100M in annual cost savings</a:t>
            </a:r>
          </a:p>
          <a:p>
            <a:pPr indent="-228600">
              <a:lnSpc>
                <a:spcPct val="90000"/>
              </a:lnSpc>
              <a:spcAft>
                <a:spcPts val="600"/>
              </a:spcAft>
              <a:buFont typeface="Arial" panose="020B0604020202020204" pitchFamily="34" charset="0"/>
              <a:buChar char="•"/>
            </a:pPr>
            <a:r>
              <a:rPr lang="en-US" sz="2000" dirty="0">
                <a:solidFill>
                  <a:schemeClr val="tx1">
                    <a:alpha val="80000"/>
                  </a:schemeClr>
                </a:solidFill>
              </a:rPr>
              <a:t>Reduced staff burnout and turnover</a:t>
            </a:r>
          </a:p>
          <a:p>
            <a:pPr indent="-228600">
              <a:lnSpc>
                <a:spcPct val="90000"/>
              </a:lnSpc>
              <a:spcAft>
                <a:spcPts val="600"/>
              </a:spcAft>
              <a:buFont typeface="Arial" panose="020B0604020202020204" pitchFamily="34" charset="0"/>
              <a:buChar char="•"/>
            </a:pPr>
            <a:r>
              <a:rPr lang="en-US" sz="2000" dirty="0">
                <a:solidFill>
                  <a:schemeClr val="tx1">
                    <a:alpha val="80000"/>
                  </a:schemeClr>
                </a:solidFill>
              </a:rPr>
              <a:t>Improved patient experience and care coordination</a:t>
            </a:r>
          </a:p>
        </p:txBody>
      </p:sp>
      <p:grpSp>
        <p:nvGrpSpPr>
          <p:cNvPr id="13" name="Group 12">
            <a:extLst>
              <a:ext uri="{FF2B5EF4-FFF2-40B4-BE49-F238E27FC236}">
                <a16:creationId xmlns:a16="http://schemas.microsoft.com/office/drawing/2014/main" id="{78350D8D-73D6-4132-89B5-DD52F3962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88224" y="2325422"/>
            <a:ext cx="465458" cy="872153"/>
            <a:chOff x="11388224" y="2325422"/>
            <a:chExt cx="465458" cy="872153"/>
          </a:xfrm>
        </p:grpSpPr>
        <p:sp>
          <p:nvSpPr>
            <p:cNvPr id="6"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3764" y="232542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7"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62544" y="255471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8"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8224" y="306986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Tree>
    <p:extLst>
      <p:ext uri="{BB962C8B-B14F-4D97-AF65-F5344CB8AC3E}">
        <p14:creationId xmlns:p14="http://schemas.microsoft.com/office/powerpoint/2010/main" val="3227952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77D452-FDF9-AA3C-8387-65A1296EC467}"/>
            </a:ext>
          </a:extLst>
        </p:cNvPr>
        <p:cNvGrpSpPr/>
        <p:nvPr/>
      </p:nvGrpSpPr>
      <p:grpSpPr>
        <a:xfrm>
          <a:off x="0" y="0"/>
          <a:ext cx="0" cy="0"/>
          <a:chOff x="0" y="0"/>
          <a:chExt cx="0" cy="0"/>
        </a:xfrm>
      </p:grpSpPr>
      <p:sp useBgFill="1">
        <p:nvSpPr>
          <p:cNvPr id="114" name="Rectangle 113">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2AE6237-7F55-3B93-53EE-74B20605077C}"/>
              </a:ext>
            </a:extLst>
          </p:cNvPr>
          <p:cNvSpPr txBox="1"/>
          <p:nvPr/>
        </p:nvSpPr>
        <p:spPr>
          <a:xfrm>
            <a:off x="640080" y="320040"/>
            <a:ext cx="6692827" cy="389266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kern="1200">
                <a:solidFill>
                  <a:schemeClr val="tx1"/>
                </a:solidFill>
                <a:latin typeface="+mj-lt"/>
                <a:ea typeface="+mj-ea"/>
                <a:cs typeface="+mj-cs"/>
              </a:rPr>
              <a:t>Pain Points</a:t>
            </a:r>
          </a:p>
        </p:txBody>
      </p:sp>
      <p:sp>
        <p:nvSpPr>
          <p:cNvPr id="11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A9AD730F-2EB2-A0AC-35AC-42F9B7A49FD8}"/>
              </a:ext>
            </a:extLst>
          </p:cNvPr>
          <p:cNvGraphicFramePr>
            <a:graphicFrameLocks noGrp="1"/>
          </p:cNvGraphicFramePr>
          <p:nvPr>
            <p:extLst>
              <p:ext uri="{D42A27DB-BD31-4B8C-83A1-F6EECF244321}">
                <p14:modId xmlns:p14="http://schemas.microsoft.com/office/powerpoint/2010/main" val="172970439"/>
              </p:ext>
            </p:extLst>
          </p:nvPr>
        </p:nvGraphicFramePr>
        <p:xfrm>
          <a:off x="7831900" y="534968"/>
          <a:ext cx="3986657" cy="5551590"/>
        </p:xfrm>
        <a:graphic>
          <a:graphicData uri="http://schemas.openxmlformats.org/drawingml/2006/table">
            <a:tbl>
              <a:tblPr/>
              <a:tblGrid>
                <a:gridCol w="3986657">
                  <a:extLst>
                    <a:ext uri="{9D8B030D-6E8A-4147-A177-3AD203B41FA5}">
                      <a16:colId xmlns:a16="http://schemas.microsoft.com/office/drawing/2014/main" val="3392177479"/>
                    </a:ext>
                  </a:extLst>
                </a:gridCol>
              </a:tblGrid>
              <a:tr h="1210902">
                <a:tc>
                  <a:txBody>
                    <a:bodyPr/>
                    <a:lstStyle/>
                    <a:p>
                      <a:pPr>
                        <a:buNone/>
                      </a:pPr>
                      <a:r>
                        <a:rPr lang="en-IN" sz="3300"/>
                        <a:t>Rising operational costs</a:t>
                      </a:r>
                    </a:p>
                  </a:txBody>
                  <a:tcPr marL="164830" marR="164830" marT="82414" marB="82414" anchor="ctr">
                    <a:lnL>
                      <a:noFill/>
                    </a:lnL>
                    <a:lnR>
                      <a:noFill/>
                    </a:lnR>
                    <a:lnT>
                      <a:noFill/>
                    </a:lnT>
                    <a:lnB>
                      <a:noFill/>
                    </a:lnB>
                    <a:noFill/>
                  </a:tcPr>
                </a:tc>
                <a:extLst>
                  <a:ext uri="{0D108BD9-81ED-4DB2-BD59-A6C34878D82A}">
                    <a16:rowId xmlns:a16="http://schemas.microsoft.com/office/drawing/2014/main" val="323890928"/>
                  </a:ext>
                </a:extLst>
              </a:tr>
              <a:tr h="1210902">
                <a:tc>
                  <a:txBody>
                    <a:bodyPr/>
                    <a:lstStyle/>
                    <a:p>
                      <a:pPr>
                        <a:buNone/>
                      </a:pPr>
                      <a:r>
                        <a:rPr lang="en-IN" sz="3300"/>
                        <a:t>Inconsistent care coordination</a:t>
                      </a:r>
                    </a:p>
                  </a:txBody>
                  <a:tcPr marL="164830" marR="164830" marT="82414" marB="82414" anchor="ctr">
                    <a:lnL>
                      <a:noFill/>
                    </a:lnL>
                    <a:lnR>
                      <a:noFill/>
                    </a:lnR>
                    <a:lnT>
                      <a:noFill/>
                    </a:lnT>
                    <a:lnB>
                      <a:noFill/>
                    </a:lnB>
                    <a:noFill/>
                  </a:tcPr>
                </a:tc>
                <a:extLst>
                  <a:ext uri="{0D108BD9-81ED-4DB2-BD59-A6C34878D82A}">
                    <a16:rowId xmlns:a16="http://schemas.microsoft.com/office/drawing/2014/main" val="2768263146"/>
                  </a:ext>
                </a:extLst>
              </a:tr>
              <a:tr h="1210902">
                <a:tc>
                  <a:txBody>
                    <a:bodyPr/>
                    <a:lstStyle/>
                    <a:p>
                      <a:pPr>
                        <a:buNone/>
                      </a:pPr>
                      <a:r>
                        <a:rPr lang="en-US" sz="3300"/>
                        <a:t>Staff burnout and union pushback</a:t>
                      </a:r>
                    </a:p>
                  </a:txBody>
                  <a:tcPr marL="164830" marR="164830" marT="82414" marB="82414" anchor="ctr">
                    <a:lnL>
                      <a:noFill/>
                    </a:lnL>
                    <a:lnR>
                      <a:noFill/>
                    </a:lnR>
                    <a:lnT>
                      <a:noFill/>
                    </a:lnT>
                    <a:lnB>
                      <a:noFill/>
                    </a:lnB>
                    <a:noFill/>
                  </a:tcPr>
                </a:tc>
                <a:extLst>
                  <a:ext uri="{0D108BD9-81ED-4DB2-BD59-A6C34878D82A}">
                    <a16:rowId xmlns:a16="http://schemas.microsoft.com/office/drawing/2014/main" val="2962714292"/>
                  </a:ext>
                </a:extLst>
              </a:tr>
              <a:tr h="1210902">
                <a:tc>
                  <a:txBody>
                    <a:bodyPr/>
                    <a:lstStyle/>
                    <a:p>
                      <a:pPr>
                        <a:buNone/>
                      </a:pPr>
                      <a:r>
                        <a:rPr lang="en-IN" sz="3300"/>
                        <a:t>Fragmented digital infrastructure</a:t>
                      </a:r>
                    </a:p>
                  </a:txBody>
                  <a:tcPr marL="164830" marR="164830" marT="82414" marB="82414" anchor="ctr">
                    <a:lnL>
                      <a:noFill/>
                    </a:lnL>
                    <a:lnR>
                      <a:noFill/>
                    </a:lnR>
                    <a:lnT>
                      <a:noFill/>
                    </a:lnT>
                    <a:lnB>
                      <a:noFill/>
                    </a:lnB>
                    <a:noFill/>
                  </a:tcPr>
                </a:tc>
                <a:extLst>
                  <a:ext uri="{0D108BD9-81ED-4DB2-BD59-A6C34878D82A}">
                    <a16:rowId xmlns:a16="http://schemas.microsoft.com/office/drawing/2014/main" val="2456831613"/>
                  </a:ext>
                </a:extLst>
              </a:tr>
              <a:tr h="707982">
                <a:tc>
                  <a:txBody>
                    <a:bodyPr/>
                    <a:lstStyle/>
                    <a:p>
                      <a:pPr>
                        <a:buNone/>
                      </a:pPr>
                      <a:r>
                        <a:rPr lang="en-IN" sz="3300"/>
                        <a:t>Low AI trust</a:t>
                      </a:r>
                    </a:p>
                  </a:txBody>
                  <a:tcPr marL="164830" marR="164830" marT="82414" marB="82414" anchor="ctr">
                    <a:lnL>
                      <a:noFill/>
                    </a:lnL>
                    <a:lnR>
                      <a:noFill/>
                    </a:lnR>
                    <a:lnT>
                      <a:noFill/>
                    </a:lnT>
                    <a:lnB>
                      <a:noFill/>
                    </a:lnB>
                    <a:noFill/>
                  </a:tcPr>
                </a:tc>
                <a:extLst>
                  <a:ext uri="{0D108BD9-81ED-4DB2-BD59-A6C34878D82A}">
                    <a16:rowId xmlns:a16="http://schemas.microsoft.com/office/drawing/2014/main" val="608817045"/>
                  </a:ext>
                </a:extLst>
              </a:tr>
            </a:tbl>
          </a:graphicData>
        </a:graphic>
      </p:graphicFrame>
    </p:spTree>
    <p:extLst>
      <p:ext uri="{BB962C8B-B14F-4D97-AF65-F5344CB8AC3E}">
        <p14:creationId xmlns:p14="http://schemas.microsoft.com/office/powerpoint/2010/main" val="1233189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72B48FF-15F9-6D46-9ECA-119FA63BDA7C}"/>
              </a:ext>
            </a:extLst>
          </p:cNvPr>
          <p:cNvSpPr txBox="1"/>
          <p:nvPr/>
        </p:nvSpPr>
        <p:spPr>
          <a:xfrm>
            <a:off x="838200" y="557189"/>
            <a:ext cx="3374136" cy="5567891"/>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200" kern="1200" dirty="0">
                <a:solidFill>
                  <a:schemeClr val="tx1"/>
                </a:solidFill>
                <a:latin typeface="+mj-lt"/>
                <a:ea typeface="+mj-ea"/>
                <a:cs typeface="+mj-cs"/>
              </a:rPr>
              <a:t>Facts</a:t>
            </a:r>
          </a:p>
        </p:txBody>
      </p:sp>
      <p:graphicFrame>
        <p:nvGraphicFramePr>
          <p:cNvPr id="27" name="TextBox 23">
            <a:extLst>
              <a:ext uri="{FF2B5EF4-FFF2-40B4-BE49-F238E27FC236}">
                <a16:creationId xmlns:a16="http://schemas.microsoft.com/office/drawing/2014/main" id="{911D12FD-62C9-FF29-E134-59EE03E33A91}"/>
              </a:ext>
            </a:extLst>
          </p:cNvPr>
          <p:cNvGraphicFramePr/>
          <p:nvPr>
            <p:extLst>
              <p:ext uri="{D42A27DB-BD31-4B8C-83A1-F6EECF244321}">
                <p14:modId xmlns:p14="http://schemas.microsoft.com/office/powerpoint/2010/main" val="2856778734"/>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7285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F4C891B-62D0-4250-AEB7-0F42BAD78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69EFA52-23B9-EDB9-8763-B3BA3B472203}"/>
              </a:ext>
            </a:extLst>
          </p:cNvPr>
          <p:cNvSpPr txBox="1"/>
          <p:nvPr/>
        </p:nvSpPr>
        <p:spPr>
          <a:xfrm>
            <a:off x="1195458" y="2212258"/>
            <a:ext cx="9808067" cy="1113503"/>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4000" b="1" kern="1200">
                <a:solidFill>
                  <a:schemeClr val="tx1"/>
                </a:solidFill>
                <a:latin typeface="+mj-lt"/>
                <a:ea typeface="+mj-ea"/>
                <a:cs typeface="+mj-cs"/>
              </a:rPr>
              <a:t>Findings</a:t>
            </a:r>
          </a:p>
        </p:txBody>
      </p:sp>
      <p:pic>
        <p:nvPicPr>
          <p:cNvPr id="9" name="Graphic 8" descr="Teacher">
            <a:extLst>
              <a:ext uri="{FF2B5EF4-FFF2-40B4-BE49-F238E27FC236}">
                <a16:creationId xmlns:a16="http://schemas.microsoft.com/office/drawing/2014/main" id="{22D26E3F-3BDA-DBEF-CE7A-11059F58E8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98389" y="1122553"/>
            <a:ext cx="995221" cy="995221"/>
          </a:xfrm>
          <a:prstGeom prst="rect">
            <a:avLst/>
          </a:prstGeom>
        </p:spPr>
      </p:pic>
      <p:sp>
        <p:nvSpPr>
          <p:cNvPr id="47" name="TextBox 46">
            <a:extLst>
              <a:ext uri="{FF2B5EF4-FFF2-40B4-BE49-F238E27FC236}">
                <a16:creationId xmlns:a16="http://schemas.microsoft.com/office/drawing/2014/main" id="{47F4F6A1-B34A-78E4-76A1-854A8979B524}"/>
              </a:ext>
            </a:extLst>
          </p:cNvPr>
          <p:cNvSpPr txBox="1"/>
          <p:nvPr/>
        </p:nvSpPr>
        <p:spPr>
          <a:xfrm>
            <a:off x="1195459" y="3532240"/>
            <a:ext cx="9804575" cy="2596847"/>
          </a:xfrm>
          <a:prstGeom prst="rect">
            <a:avLst/>
          </a:prstGeom>
        </p:spPr>
        <p:txBody>
          <a:bodyPr vert="horz" lIns="91440" tIns="45720" rIns="91440" bIns="45720" rtlCol="0" anchor="t">
            <a:normAutofit/>
          </a:bodyPr>
          <a:lstStyle/>
          <a:p>
            <a:pPr indent="-228600" algn="ctr">
              <a:lnSpc>
                <a:spcPct val="90000"/>
              </a:lnSpc>
              <a:spcAft>
                <a:spcPts val="600"/>
              </a:spcAft>
              <a:buFont typeface="Arial" panose="020B0604020202020204" pitchFamily="34" charset="0"/>
              <a:buChar char="•"/>
            </a:pPr>
            <a:r>
              <a:rPr lang="en-US" sz="2000"/>
              <a:t>Standardization of Data:Lack of uniform data standards and formats.</a:t>
            </a:r>
          </a:p>
          <a:p>
            <a:pPr indent="-228600" algn="ctr">
              <a:lnSpc>
                <a:spcPct val="90000"/>
              </a:lnSpc>
              <a:spcAft>
                <a:spcPts val="600"/>
              </a:spcAft>
              <a:buFont typeface="Arial" panose="020B0604020202020204" pitchFamily="34" charset="0"/>
              <a:buChar char="•"/>
            </a:pPr>
            <a:r>
              <a:rPr lang="en-US" sz="2000"/>
              <a:t>Staff Training: Staff are not trained on AI usage.</a:t>
            </a:r>
          </a:p>
          <a:p>
            <a:pPr indent="-228600" algn="ctr">
              <a:lnSpc>
                <a:spcPct val="90000"/>
              </a:lnSpc>
              <a:spcAft>
                <a:spcPts val="600"/>
              </a:spcAft>
              <a:buFont typeface="Arial" panose="020B0604020202020204" pitchFamily="34" charset="0"/>
              <a:buChar char="•"/>
            </a:pPr>
            <a:r>
              <a:rPr lang="en-US" sz="2000"/>
              <a:t>Feedback Mechanism: No feedback mechanism in place for existing AI solutions.</a:t>
            </a:r>
          </a:p>
        </p:txBody>
      </p:sp>
    </p:spTree>
    <p:extLst>
      <p:ext uri="{BB962C8B-B14F-4D97-AF65-F5344CB8AC3E}">
        <p14:creationId xmlns:p14="http://schemas.microsoft.com/office/powerpoint/2010/main" val="421596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749AE7F-DFF4-2514-921A-7B48DB58EE1E}"/>
              </a:ext>
            </a:extLst>
          </p:cNvPr>
          <p:cNvSpPr txBox="1"/>
          <p:nvPr/>
        </p:nvSpPr>
        <p:spPr>
          <a:xfrm>
            <a:off x="838200" y="184805"/>
            <a:ext cx="10515600" cy="150588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200" b="1" kern="1200" dirty="0">
                <a:solidFill>
                  <a:schemeClr val="tx1"/>
                </a:solidFill>
                <a:latin typeface="+mj-lt"/>
                <a:ea typeface="+mj-ea"/>
                <a:cs typeface="+mj-cs"/>
              </a:rPr>
              <a:t>Recommendation</a:t>
            </a:r>
          </a:p>
        </p:txBody>
      </p:sp>
      <p:graphicFrame>
        <p:nvGraphicFramePr>
          <p:cNvPr id="2" name="Table 1">
            <a:extLst>
              <a:ext uri="{FF2B5EF4-FFF2-40B4-BE49-F238E27FC236}">
                <a16:creationId xmlns:a16="http://schemas.microsoft.com/office/drawing/2014/main" id="{6CFA948A-808B-6B8B-D979-659FD228B165}"/>
              </a:ext>
            </a:extLst>
          </p:cNvPr>
          <p:cNvGraphicFramePr>
            <a:graphicFrameLocks noGrp="1"/>
          </p:cNvGraphicFramePr>
          <p:nvPr>
            <p:extLst>
              <p:ext uri="{D42A27DB-BD31-4B8C-83A1-F6EECF244321}">
                <p14:modId xmlns:p14="http://schemas.microsoft.com/office/powerpoint/2010/main" val="1692303494"/>
              </p:ext>
            </p:extLst>
          </p:nvPr>
        </p:nvGraphicFramePr>
        <p:xfrm>
          <a:off x="1584976" y="1845426"/>
          <a:ext cx="9018997" cy="4450304"/>
        </p:xfrm>
        <a:graphic>
          <a:graphicData uri="http://schemas.openxmlformats.org/drawingml/2006/table">
            <a:tbl>
              <a:tblPr/>
              <a:tblGrid>
                <a:gridCol w="4003968">
                  <a:extLst>
                    <a:ext uri="{9D8B030D-6E8A-4147-A177-3AD203B41FA5}">
                      <a16:colId xmlns:a16="http://schemas.microsoft.com/office/drawing/2014/main" val="995825477"/>
                    </a:ext>
                  </a:extLst>
                </a:gridCol>
                <a:gridCol w="4036568">
                  <a:extLst>
                    <a:ext uri="{9D8B030D-6E8A-4147-A177-3AD203B41FA5}">
                      <a16:colId xmlns:a16="http://schemas.microsoft.com/office/drawing/2014/main" val="3589549547"/>
                    </a:ext>
                  </a:extLst>
                </a:gridCol>
                <a:gridCol w="978461">
                  <a:extLst>
                    <a:ext uri="{9D8B030D-6E8A-4147-A177-3AD203B41FA5}">
                      <a16:colId xmlns:a16="http://schemas.microsoft.com/office/drawing/2014/main" val="3719200689"/>
                    </a:ext>
                  </a:extLst>
                </a:gridCol>
              </a:tblGrid>
              <a:tr h="458396">
                <a:tc>
                  <a:txBody>
                    <a:bodyPr/>
                    <a:lstStyle/>
                    <a:p>
                      <a:pPr>
                        <a:buNone/>
                      </a:pPr>
                      <a:r>
                        <a:rPr lang="en-IN" sz="2000" b="1"/>
                        <a:t>Category</a:t>
                      </a:r>
                      <a:endParaRPr lang="en-IN" sz="2000"/>
                    </a:p>
                  </a:txBody>
                  <a:tcPr marL="103815" marR="103815" marT="51907" marB="51907" anchor="ctr">
                    <a:lnL>
                      <a:noFill/>
                    </a:lnL>
                    <a:lnR>
                      <a:noFill/>
                    </a:lnR>
                    <a:lnT>
                      <a:noFill/>
                    </a:lnT>
                    <a:lnB>
                      <a:noFill/>
                    </a:lnB>
                    <a:noFill/>
                  </a:tcPr>
                </a:tc>
                <a:tc>
                  <a:txBody>
                    <a:bodyPr/>
                    <a:lstStyle/>
                    <a:p>
                      <a:pPr>
                        <a:buNone/>
                      </a:pPr>
                      <a:r>
                        <a:rPr lang="en-IN" sz="2000" b="1" dirty="0"/>
                        <a:t> Recommendation</a:t>
                      </a:r>
                      <a:endParaRPr lang="en-IN" sz="2000" dirty="0"/>
                    </a:p>
                  </a:txBody>
                  <a:tcPr marL="103815" marR="103815" marT="51907" marB="51907" anchor="ctr">
                    <a:lnL>
                      <a:noFill/>
                    </a:lnL>
                    <a:lnR>
                      <a:noFill/>
                    </a:lnR>
                    <a:lnT>
                      <a:noFill/>
                    </a:lnT>
                    <a:lnB>
                      <a:noFill/>
                    </a:lnB>
                    <a:noFill/>
                  </a:tcPr>
                </a:tc>
                <a:tc>
                  <a:txBody>
                    <a:bodyPr/>
                    <a:lstStyle/>
                    <a:p>
                      <a:pPr>
                        <a:buNone/>
                      </a:pPr>
                      <a:endParaRPr lang="en-IN" sz="2000"/>
                    </a:p>
                  </a:txBody>
                  <a:tcPr marL="103815" marR="103815" marT="51907" marB="51907" anchor="ctr">
                    <a:lnL>
                      <a:noFill/>
                    </a:lnL>
                    <a:lnR>
                      <a:noFill/>
                    </a:lnR>
                    <a:lnT>
                      <a:noFill/>
                    </a:lnT>
                    <a:lnB>
                      <a:noFill/>
                    </a:lnB>
                    <a:noFill/>
                  </a:tcPr>
                </a:tc>
                <a:extLst>
                  <a:ext uri="{0D108BD9-81ED-4DB2-BD59-A6C34878D82A}">
                    <a16:rowId xmlns:a16="http://schemas.microsoft.com/office/drawing/2014/main" val="1428611747"/>
                  </a:ext>
                </a:extLst>
              </a:tr>
              <a:tr h="1075060">
                <a:tc>
                  <a:txBody>
                    <a:bodyPr/>
                    <a:lstStyle/>
                    <a:p>
                      <a:pPr>
                        <a:buNone/>
                      </a:pPr>
                      <a:r>
                        <a:rPr lang="en-IN" sz="2000" b="1" dirty="0"/>
                        <a:t>Data Governance &amp; Privacy</a:t>
                      </a:r>
                      <a:endParaRPr lang="en-IN" sz="2000" dirty="0"/>
                    </a:p>
                  </a:txBody>
                  <a:tcPr marL="103815" marR="103815" marT="51907" marB="51907" anchor="ctr">
                    <a:lnL>
                      <a:noFill/>
                    </a:lnL>
                    <a:lnR>
                      <a:noFill/>
                    </a:lnR>
                    <a:lnT>
                      <a:noFill/>
                    </a:lnT>
                    <a:lnB>
                      <a:noFill/>
                    </a:lnB>
                    <a:noFill/>
                  </a:tcPr>
                </a:tc>
                <a:tc>
                  <a:txBody>
                    <a:bodyPr/>
                    <a:lstStyle/>
                    <a:p>
                      <a:pPr>
                        <a:buNone/>
                      </a:pPr>
                      <a:r>
                        <a:rPr lang="en-US" sz="2000" dirty="0"/>
                        <a:t>Implement RBAC and data anonymization; Ensure HIPAA compliance</a:t>
                      </a:r>
                    </a:p>
                  </a:txBody>
                  <a:tcPr marL="103815" marR="103815" marT="51907" marB="51907" anchor="ctr">
                    <a:lnL>
                      <a:noFill/>
                    </a:lnL>
                    <a:lnR>
                      <a:noFill/>
                    </a:lnR>
                    <a:lnT>
                      <a:noFill/>
                    </a:lnT>
                    <a:lnB>
                      <a:noFill/>
                    </a:lnB>
                    <a:noFill/>
                  </a:tcPr>
                </a:tc>
                <a:tc>
                  <a:txBody>
                    <a:bodyPr/>
                    <a:lstStyle/>
                    <a:p>
                      <a:pPr>
                        <a:buNone/>
                      </a:pPr>
                      <a:endParaRPr lang="en-US" sz="2000"/>
                    </a:p>
                  </a:txBody>
                  <a:tcPr marL="103815" marR="103815" marT="51907" marB="51907" anchor="ctr">
                    <a:lnL>
                      <a:noFill/>
                    </a:lnL>
                    <a:lnR>
                      <a:noFill/>
                    </a:lnR>
                    <a:lnT>
                      <a:noFill/>
                    </a:lnT>
                    <a:lnB>
                      <a:noFill/>
                    </a:lnB>
                    <a:noFill/>
                  </a:tcPr>
                </a:tc>
                <a:extLst>
                  <a:ext uri="{0D108BD9-81ED-4DB2-BD59-A6C34878D82A}">
                    <a16:rowId xmlns:a16="http://schemas.microsoft.com/office/drawing/2014/main" val="529318160"/>
                  </a:ext>
                </a:extLst>
              </a:tr>
              <a:tr h="1075060">
                <a:tc>
                  <a:txBody>
                    <a:bodyPr/>
                    <a:lstStyle/>
                    <a:p>
                      <a:pPr>
                        <a:buNone/>
                      </a:pPr>
                      <a:r>
                        <a:rPr lang="en-IN" sz="2000" b="1" dirty="0"/>
                        <a:t>Stakeholder &amp; Union Engagement</a:t>
                      </a:r>
                      <a:endParaRPr lang="en-IN" sz="2000" dirty="0"/>
                    </a:p>
                  </a:txBody>
                  <a:tcPr marL="103815" marR="103815" marT="51907" marB="51907" anchor="ctr">
                    <a:lnL>
                      <a:noFill/>
                    </a:lnL>
                    <a:lnR>
                      <a:noFill/>
                    </a:lnR>
                    <a:lnT>
                      <a:noFill/>
                    </a:lnT>
                    <a:lnB>
                      <a:noFill/>
                    </a:lnB>
                    <a:noFill/>
                  </a:tcPr>
                </a:tc>
                <a:tc>
                  <a:txBody>
                    <a:bodyPr/>
                    <a:lstStyle/>
                    <a:p>
                      <a:pPr>
                        <a:buNone/>
                      </a:pPr>
                      <a:r>
                        <a:rPr lang="en-US" sz="2000" dirty="0"/>
                        <a:t>Establish AI Governance Council; Co-design workshops</a:t>
                      </a:r>
                    </a:p>
                  </a:txBody>
                  <a:tcPr marL="103815" marR="103815" marT="51907" marB="51907" anchor="ctr">
                    <a:lnL>
                      <a:noFill/>
                    </a:lnL>
                    <a:lnR>
                      <a:noFill/>
                    </a:lnR>
                    <a:lnT>
                      <a:noFill/>
                    </a:lnT>
                    <a:lnB>
                      <a:noFill/>
                    </a:lnB>
                    <a:noFill/>
                  </a:tcPr>
                </a:tc>
                <a:tc>
                  <a:txBody>
                    <a:bodyPr/>
                    <a:lstStyle/>
                    <a:p>
                      <a:pPr>
                        <a:buNone/>
                      </a:pPr>
                      <a:endParaRPr lang="en-US" sz="2000"/>
                    </a:p>
                  </a:txBody>
                  <a:tcPr marL="103815" marR="103815" marT="51907" marB="51907" anchor="ctr">
                    <a:lnL>
                      <a:noFill/>
                    </a:lnL>
                    <a:lnR>
                      <a:noFill/>
                    </a:lnR>
                    <a:lnT>
                      <a:noFill/>
                    </a:lnT>
                    <a:lnB>
                      <a:noFill/>
                    </a:lnB>
                    <a:noFill/>
                  </a:tcPr>
                </a:tc>
                <a:extLst>
                  <a:ext uri="{0D108BD9-81ED-4DB2-BD59-A6C34878D82A}">
                    <a16:rowId xmlns:a16="http://schemas.microsoft.com/office/drawing/2014/main" val="2626814093"/>
                  </a:ext>
                </a:extLst>
              </a:tr>
              <a:tr h="1075060">
                <a:tc>
                  <a:txBody>
                    <a:bodyPr/>
                    <a:lstStyle/>
                    <a:p>
                      <a:pPr>
                        <a:buNone/>
                      </a:pPr>
                      <a:r>
                        <a:rPr lang="en-IN" sz="2000" b="1" dirty="0"/>
                        <a:t>Budget &amp; Timeline Alignment</a:t>
                      </a:r>
                      <a:endParaRPr lang="en-IN" sz="2000" dirty="0"/>
                    </a:p>
                  </a:txBody>
                  <a:tcPr marL="103815" marR="103815" marT="51907" marB="51907" anchor="ctr">
                    <a:lnL>
                      <a:noFill/>
                    </a:lnL>
                    <a:lnR>
                      <a:noFill/>
                    </a:lnR>
                    <a:lnT>
                      <a:noFill/>
                    </a:lnT>
                    <a:lnB>
                      <a:noFill/>
                    </a:lnB>
                    <a:noFill/>
                  </a:tcPr>
                </a:tc>
                <a:tc>
                  <a:txBody>
                    <a:bodyPr/>
                    <a:lstStyle/>
                    <a:p>
                      <a:pPr>
                        <a:buNone/>
                      </a:pPr>
                      <a:r>
                        <a:rPr lang="en-US" sz="2000"/>
                        <a:t>Prioritize low-cost use cases; Modular deployment; Leverage existing infrastructure</a:t>
                      </a:r>
                    </a:p>
                  </a:txBody>
                  <a:tcPr marL="103815" marR="103815" marT="51907" marB="51907" anchor="ctr">
                    <a:lnL>
                      <a:noFill/>
                    </a:lnL>
                    <a:lnR>
                      <a:noFill/>
                    </a:lnR>
                    <a:lnT>
                      <a:noFill/>
                    </a:lnT>
                    <a:lnB>
                      <a:noFill/>
                    </a:lnB>
                    <a:noFill/>
                  </a:tcPr>
                </a:tc>
                <a:tc>
                  <a:txBody>
                    <a:bodyPr/>
                    <a:lstStyle/>
                    <a:p>
                      <a:pPr>
                        <a:buNone/>
                      </a:pPr>
                      <a:endParaRPr lang="en-IN" sz="2000"/>
                    </a:p>
                  </a:txBody>
                  <a:tcPr marL="103815" marR="103815" marT="51907" marB="51907" anchor="ctr">
                    <a:lnL>
                      <a:noFill/>
                    </a:lnL>
                    <a:lnR>
                      <a:noFill/>
                    </a:lnR>
                    <a:lnT>
                      <a:noFill/>
                    </a:lnT>
                    <a:lnB>
                      <a:noFill/>
                    </a:lnB>
                    <a:noFill/>
                  </a:tcPr>
                </a:tc>
                <a:extLst>
                  <a:ext uri="{0D108BD9-81ED-4DB2-BD59-A6C34878D82A}">
                    <a16:rowId xmlns:a16="http://schemas.microsoft.com/office/drawing/2014/main" val="3006160778"/>
                  </a:ext>
                </a:extLst>
              </a:tr>
              <a:tr h="766728">
                <a:tc>
                  <a:txBody>
                    <a:bodyPr/>
                    <a:lstStyle/>
                    <a:p>
                      <a:pPr>
                        <a:buNone/>
                      </a:pPr>
                      <a:r>
                        <a:rPr lang="en-US" sz="2000" b="1" dirty="0"/>
                        <a:t>Building Early Success Stories</a:t>
                      </a:r>
                      <a:endParaRPr lang="en-US" sz="2000" dirty="0"/>
                    </a:p>
                  </a:txBody>
                  <a:tcPr marL="103815" marR="103815" marT="51907" marB="51907" anchor="ctr">
                    <a:lnL>
                      <a:noFill/>
                    </a:lnL>
                    <a:lnR>
                      <a:noFill/>
                    </a:lnR>
                    <a:lnT>
                      <a:noFill/>
                    </a:lnT>
                    <a:lnB>
                      <a:noFill/>
                    </a:lnB>
                    <a:noFill/>
                  </a:tcPr>
                </a:tc>
                <a:tc>
                  <a:txBody>
                    <a:bodyPr/>
                    <a:lstStyle/>
                    <a:p>
                      <a:pPr>
                        <a:buNone/>
                      </a:pPr>
                      <a:r>
                        <a:rPr lang="en-IN" sz="2000" dirty="0"/>
                        <a:t>Identify pilot sites;</a:t>
                      </a:r>
                    </a:p>
                  </a:txBody>
                  <a:tcPr marL="103815" marR="103815" marT="51907" marB="51907" anchor="ctr">
                    <a:lnL>
                      <a:noFill/>
                    </a:lnL>
                    <a:lnR>
                      <a:noFill/>
                    </a:lnR>
                    <a:lnT>
                      <a:noFill/>
                    </a:lnT>
                    <a:lnB>
                      <a:noFill/>
                    </a:lnB>
                    <a:noFill/>
                  </a:tcPr>
                </a:tc>
                <a:tc>
                  <a:txBody>
                    <a:bodyPr/>
                    <a:lstStyle/>
                    <a:p>
                      <a:pPr>
                        <a:buNone/>
                      </a:pPr>
                      <a:endParaRPr lang="en-IN" sz="2000" dirty="0"/>
                    </a:p>
                  </a:txBody>
                  <a:tcPr marL="103815" marR="103815" marT="51907" marB="51907" anchor="ctr">
                    <a:lnL>
                      <a:noFill/>
                    </a:lnL>
                    <a:lnR>
                      <a:noFill/>
                    </a:lnR>
                    <a:lnT>
                      <a:noFill/>
                    </a:lnT>
                    <a:lnB>
                      <a:noFill/>
                    </a:lnB>
                    <a:noFill/>
                  </a:tcPr>
                </a:tc>
                <a:extLst>
                  <a:ext uri="{0D108BD9-81ED-4DB2-BD59-A6C34878D82A}">
                    <a16:rowId xmlns:a16="http://schemas.microsoft.com/office/drawing/2014/main" val="2892215816"/>
                  </a:ext>
                </a:extLst>
              </a:tr>
            </a:tbl>
          </a:graphicData>
        </a:graphic>
      </p:graphicFrame>
    </p:spTree>
    <p:extLst>
      <p:ext uri="{BB962C8B-B14F-4D97-AF65-F5344CB8AC3E}">
        <p14:creationId xmlns:p14="http://schemas.microsoft.com/office/powerpoint/2010/main" val="590563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5CC8196-7A16-2C33-A1D4-20FEB2CCE9CB}"/>
              </a:ext>
            </a:extLst>
          </p:cNvPr>
          <p:cNvSpPr txBox="1"/>
          <p:nvPr/>
        </p:nvSpPr>
        <p:spPr>
          <a:xfrm>
            <a:off x="1115568" y="548640"/>
            <a:ext cx="10168128" cy="1179576"/>
          </a:xfrm>
          <a:prstGeom prst="rect">
            <a:avLst/>
          </a:prstGeom>
        </p:spPr>
        <p:txBody>
          <a:bodyPr vert="horz" lIns="91440" tIns="45720" rIns="91440" bIns="45720" rtlCol="0" anchor="ctr">
            <a:normAutofit/>
          </a:bodyPr>
          <a:lstStyle/>
          <a:p>
            <a:r>
              <a:rPr lang="en-US" sz="3600" b="1" dirty="0"/>
              <a:t>Agentic AI Use Cases</a:t>
            </a:r>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60636061-7FB7-94C3-7BC5-A5482A8F4735}"/>
              </a:ext>
            </a:extLst>
          </p:cNvPr>
          <p:cNvSpPr txBox="1"/>
          <p:nvPr/>
        </p:nvSpPr>
        <p:spPr>
          <a:xfrm>
            <a:off x="1115568" y="2481943"/>
            <a:ext cx="10168128" cy="3695020"/>
          </a:xfrm>
          <a:prstGeom prst="rect">
            <a:avLst/>
          </a:prstGeom>
        </p:spPr>
        <p:txBody>
          <a:bodyPr vert="horz" lIns="91440" tIns="45720" rIns="91440" bIns="45720" rtlCol="0">
            <a:normAutofit/>
          </a:bodyPr>
          <a:lstStyle/>
          <a:p>
            <a:pPr marL="342900" indent="-342900">
              <a:buFont typeface="Arial" panose="020B0604020202020204" pitchFamily="34" charset="0"/>
              <a:buChar char="•"/>
            </a:pPr>
            <a:r>
              <a:rPr lang="en-US" sz="2400" b="1" dirty="0"/>
              <a:t>Appointment Scheduling &amp; Rescheduling</a:t>
            </a:r>
            <a:br>
              <a:rPr lang="en-US" sz="2400" dirty="0"/>
            </a:br>
            <a:r>
              <a:rPr lang="en-US" sz="2400" dirty="0"/>
              <a:t>Autonomous agents optimize slots, handle delays, and reduce no-shows.</a:t>
            </a:r>
          </a:p>
          <a:p>
            <a:pPr marL="342900" indent="-342900">
              <a:buFont typeface="Arial" panose="020B0604020202020204" pitchFamily="34" charset="0"/>
              <a:buChar char="•"/>
            </a:pPr>
            <a:r>
              <a:rPr lang="en-US" sz="2400" b="1" dirty="0"/>
              <a:t>Virtual Assistant for Patient Queries</a:t>
            </a:r>
            <a:br>
              <a:rPr lang="en-US" sz="2400" dirty="0"/>
            </a:br>
            <a:r>
              <a:rPr lang="en-US" sz="2400" dirty="0"/>
              <a:t>Context-aware responses, escalation to staff when needed.</a:t>
            </a:r>
          </a:p>
          <a:p>
            <a:pPr marL="342900" indent="-342900">
              <a:buFont typeface="Arial" panose="020B0604020202020204" pitchFamily="34" charset="0"/>
              <a:buChar char="•"/>
            </a:pPr>
            <a:r>
              <a:rPr lang="en-US" sz="2400" b="1" dirty="0"/>
              <a:t>Customized Training Platform</a:t>
            </a:r>
            <a:br>
              <a:rPr lang="en-US" sz="2400" dirty="0"/>
            </a:br>
            <a:r>
              <a:rPr lang="en-US" sz="2400" dirty="0"/>
              <a:t>Personalized learning paths for staff and patients, adaptive content updates.</a:t>
            </a:r>
          </a:p>
        </p:txBody>
      </p:sp>
    </p:spTree>
    <p:extLst>
      <p:ext uri="{BB962C8B-B14F-4D97-AF65-F5344CB8AC3E}">
        <p14:creationId xmlns:p14="http://schemas.microsoft.com/office/powerpoint/2010/main" val="148544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8610CB-BD59-34E3-847E-480E2112AB86}"/>
            </a:ext>
          </a:extLst>
        </p:cNvPr>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18DA44B-9F13-1801-3753-828DC0A7D6FF}"/>
              </a:ext>
            </a:extLst>
          </p:cNvPr>
          <p:cNvSpPr txBox="1"/>
          <p:nvPr/>
        </p:nvSpPr>
        <p:spPr>
          <a:xfrm>
            <a:off x="638882" y="639193"/>
            <a:ext cx="3571810" cy="3573516"/>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kern="1200" dirty="0">
                <a:solidFill>
                  <a:schemeClr val="tx1"/>
                </a:solidFill>
                <a:latin typeface="+mj-lt"/>
                <a:ea typeface="+mj-ea"/>
                <a:cs typeface="+mj-cs"/>
              </a:rPr>
              <a:t>Road</a:t>
            </a:r>
            <a:r>
              <a:rPr lang="en-US" sz="6600" kern="1200" dirty="0">
                <a:solidFill>
                  <a:schemeClr val="tx1"/>
                </a:solidFill>
                <a:latin typeface="+mj-lt"/>
                <a:ea typeface="+mj-ea"/>
                <a:cs typeface="+mj-cs"/>
              </a:rPr>
              <a:t> </a:t>
            </a:r>
            <a:r>
              <a:rPr lang="en-US" sz="6600" b="1" kern="1200" dirty="0">
                <a:solidFill>
                  <a:schemeClr val="tx1"/>
                </a:solidFill>
                <a:latin typeface="+mj-lt"/>
                <a:ea typeface="+mj-ea"/>
                <a:cs typeface="+mj-cs"/>
              </a:rPr>
              <a:t>Map</a:t>
            </a:r>
          </a:p>
        </p:txBody>
      </p:sp>
      <p:sp>
        <p:nvSpPr>
          <p:cNvPr id="95"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E4810631-4738-985E-DF16-A45EFAA060B5}"/>
              </a:ext>
            </a:extLst>
          </p:cNvPr>
          <p:cNvGraphicFramePr>
            <a:graphicFrameLocks noGrp="1"/>
          </p:cNvGraphicFramePr>
          <p:nvPr>
            <p:extLst>
              <p:ext uri="{D42A27DB-BD31-4B8C-83A1-F6EECF244321}">
                <p14:modId xmlns:p14="http://schemas.microsoft.com/office/powerpoint/2010/main" val="723314438"/>
              </p:ext>
            </p:extLst>
          </p:nvPr>
        </p:nvGraphicFramePr>
        <p:xfrm>
          <a:off x="4654296" y="765489"/>
          <a:ext cx="7214618" cy="5299593"/>
        </p:xfrm>
        <a:graphic>
          <a:graphicData uri="http://schemas.openxmlformats.org/drawingml/2006/table">
            <a:tbl>
              <a:tblPr>
                <a:noFill/>
              </a:tblPr>
              <a:tblGrid>
                <a:gridCol w="2629005">
                  <a:extLst>
                    <a:ext uri="{9D8B030D-6E8A-4147-A177-3AD203B41FA5}">
                      <a16:colId xmlns:a16="http://schemas.microsoft.com/office/drawing/2014/main" val="4270029314"/>
                    </a:ext>
                  </a:extLst>
                </a:gridCol>
                <a:gridCol w="1753039">
                  <a:extLst>
                    <a:ext uri="{9D8B030D-6E8A-4147-A177-3AD203B41FA5}">
                      <a16:colId xmlns:a16="http://schemas.microsoft.com/office/drawing/2014/main" val="475586569"/>
                    </a:ext>
                  </a:extLst>
                </a:gridCol>
                <a:gridCol w="2832574">
                  <a:extLst>
                    <a:ext uri="{9D8B030D-6E8A-4147-A177-3AD203B41FA5}">
                      <a16:colId xmlns:a16="http://schemas.microsoft.com/office/drawing/2014/main" val="1983324149"/>
                    </a:ext>
                  </a:extLst>
                </a:gridCol>
              </a:tblGrid>
              <a:tr h="535295">
                <a:tc>
                  <a:txBody>
                    <a:bodyPr/>
                    <a:lstStyle/>
                    <a:p>
                      <a:pPr>
                        <a:buNone/>
                      </a:pPr>
                      <a:r>
                        <a:rPr lang="en-IN" sz="2100" b="1" cap="none" spc="0">
                          <a:solidFill>
                            <a:schemeClr val="tx1"/>
                          </a:solidFill>
                        </a:rPr>
                        <a:t>Phase</a:t>
                      </a:r>
                      <a:endParaRPr lang="en-IN" sz="2100" cap="none" spc="0">
                        <a:solidFill>
                          <a:schemeClr val="tx1"/>
                        </a:solidFill>
                      </a:endParaRPr>
                    </a:p>
                  </a:txBody>
                  <a:tcPr marL="107273" marR="107273" marT="53636" marB="118440" anchor="ctr">
                    <a:lnL w="12700" cap="flat" cmpd="sng" algn="ctr">
                      <a:noFill/>
                      <a:prstDash val="solid"/>
                    </a:lnL>
                    <a:lnR w="12700" cmpd="sng">
                      <a:noFill/>
                      <a:prstDash val="solid"/>
                    </a:lnR>
                    <a:lnT w="12700" cap="flat" cmpd="sng" algn="ctr">
                      <a:noFill/>
                      <a:prstDash val="solid"/>
                    </a:lnT>
                    <a:lnB w="12700" cmpd="sng">
                      <a:noFill/>
                      <a:prstDash val="solid"/>
                    </a:lnB>
                    <a:noFill/>
                  </a:tcPr>
                </a:tc>
                <a:tc>
                  <a:txBody>
                    <a:bodyPr/>
                    <a:lstStyle/>
                    <a:p>
                      <a:pPr>
                        <a:buNone/>
                      </a:pPr>
                      <a:r>
                        <a:rPr lang="en-IN" sz="2100" b="1" cap="none" spc="0">
                          <a:solidFill>
                            <a:schemeClr val="tx1"/>
                          </a:solidFill>
                        </a:rPr>
                        <a:t>Timeline</a:t>
                      </a:r>
                      <a:endParaRPr lang="en-IN" sz="2100" cap="none" spc="0">
                        <a:solidFill>
                          <a:schemeClr val="tx1"/>
                        </a:solidFill>
                      </a:endParaRPr>
                    </a:p>
                  </a:txBody>
                  <a:tcPr marL="107273" marR="107273" marT="53636" marB="118440" anchor="ctr">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a:buNone/>
                      </a:pPr>
                      <a:r>
                        <a:rPr lang="en-IN" sz="2100" b="1" cap="none" spc="0">
                          <a:solidFill>
                            <a:schemeClr val="tx1"/>
                          </a:solidFill>
                        </a:rPr>
                        <a:t>Focus Areas</a:t>
                      </a:r>
                      <a:endParaRPr lang="en-IN" sz="2100" cap="none" spc="0">
                        <a:solidFill>
                          <a:schemeClr val="tx1"/>
                        </a:solidFill>
                      </a:endParaRPr>
                    </a:p>
                  </a:txBody>
                  <a:tcPr marL="107273" marR="107273" marT="53636" marB="118440" anchor="ctr">
                    <a:lnL w="12700" cmpd="sng">
                      <a:noFill/>
                      <a:prstDash val="solid"/>
                    </a:lnL>
                    <a:lnR w="12700" cmpd="sng">
                      <a:noFill/>
                      <a:prstDash val="solid"/>
                    </a:lnR>
                    <a:lnT w="12700" cap="flat" cmpd="sng" algn="ctr">
                      <a:noFill/>
                      <a:prstDash val="solid"/>
                    </a:lnT>
                    <a:lnB w="12700" cmpd="sng">
                      <a:noFill/>
                      <a:prstDash val="solid"/>
                    </a:lnB>
                    <a:noFill/>
                  </a:tcPr>
                </a:tc>
                <a:extLst>
                  <a:ext uri="{0D108BD9-81ED-4DB2-BD59-A6C34878D82A}">
                    <a16:rowId xmlns:a16="http://schemas.microsoft.com/office/drawing/2014/main" val="4147202799"/>
                  </a:ext>
                </a:extLst>
              </a:tr>
              <a:tr h="1482819">
                <a:tc>
                  <a:txBody>
                    <a:bodyPr/>
                    <a:lstStyle/>
                    <a:p>
                      <a:pPr>
                        <a:buNone/>
                      </a:pPr>
                      <a:r>
                        <a:rPr lang="en-IN" sz="2100" cap="none" spc="0">
                          <a:solidFill>
                            <a:schemeClr val="tx1"/>
                          </a:solidFill>
                        </a:rPr>
                        <a:t>Phase 1: Pilot &amp; Validate</a:t>
                      </a:r>
                    </a:p>
                  </a:txBody>
                  <a:tcPr marL="107273" marR="107273" marT="53636" marB="118440"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buNone/>
                      </a:pPr>
                      <a:r>
                        <a:rPr lang="en-IN" sz="2100" cap="none" spc="0">
                          <a:solidFill>
                            <a:schemeClr val="tx1"/>
                          </a:solidFill>
                        </a:rPr>
                        <a:t>0–6 months</a:t>
                      </a:r>
                    </a:p>
                  </a:txBody>
                  <a:tcPr marL="107273" marR="107273" marT="53636" marB="11844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2100" cap="none" spc="0">
                          <a:solidFill>
                            <a:schemeClr val="tx1"/>
                          </a:solidFill>
                        </a:rPr>
                        <a:t>Deploy CareIntel in 2 hospitals for scheduling and triage. Measure KPIs.</a:t>
                      </a:r>
                    </a:p>
                  </a:txBody>
                  <a:tcPr marL="107273" marR="107273" marT="53636" marB="11844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898410285"/>
                  </a:ext>
                </a:extLst>
              </a:tr>
              <a:tr h="1482819">
                <a:tc>
                  <a:txBody>
                    <a:bodyPr/>
                    <a:lstStyle/>
                    <a:p>
                      <a:pPr>
                        <a:buNone/>
                      </a:pPr>
                      <a:r>
                        <a:rPr lang="en-IN" sz="2100" cap="none" spc="0">
                          <a:solidFill>
                            <a:schemeClr val="tx1"/>
                          </a:solidFill>
                        </a:rPr>
                        <a:t>Phase 2: Expand &amp; Optimize</a:t>
                      </a:r>
                    </a:p>
                  </a:txBody>
                  <a:tcPr marL="107273" marR="107273" marT="53636" marB="118440"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buNone/>
                      </a:pPr>
                      <a:r>
                        <a:rPr lang="en-IN" sz="2100" cap="none" spc="0">
                          <a:solidFill>
                            <a:schemeClr val="tx1"/>
                          </a:solidFill>
                        </a:rPr>
                        <a:t>6–18 months</a:t>
                      </a:r>
                    </a:p>
                  </a:txBody>
                  <a:tcPr marL="107273" marR="107273" marT="53636" marB="11844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2100" cap="none" spc="0">
                          <a:solidFill>
                            <a:schemeClr val="tx1"/>
                          </a:solidFill>
                        </a:rPr>
                        <a:t>Extend to documentation and virtual assistants. Integrate with EHR.</a:t>
                      </a:r>
                    </a:p>
                  </a:txBody>
                  <a:tcPr marL="107273" marR="107273" marT="53636" marB="11844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899569000"/>
                  </a:ext>
                </a:extLst>
              </a:tr>
              <a:tr h="1798660">
                <a:tc>
                  <a:txBody>
                    <a:bodyPr/>
                    <a:lstStyle/>
                    <a:p>
                      <a:pPr>
                        <a:buNone/>
                      </a:pPr>
                      <a:r>
                        <a:rPr lang="en-IN" sz="2100" cap="none" spc="0">
                          <a:solidFill>
                            <a:schemeClr val="tx1"/>
                          </a:solidFill>
                        </a:rPr>
                        <a:t>Phase 3: Scale &amp; Sustain</a:t>
                      </a:r>
                    </a:p>
                  </a:txBody>
                  <a:tcPr marL="107273" marR="107273" marT="53636" marB="118440" anchor="ctr">
                    <a:lnL w="12700"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IN" sz="2100" cap="none" spc="0">
                          <a:solidFill>
                            <a:schemeClr val="tx1"/>
                          </a:solidFill>
                        </a:rPr>
                        <a:t>18–36 months</a:t>
                      </a:r>
                    </a:p>
                  </a:txBody>
                  <a:tcPr marL="107273" marR="107273" marT="53636" marB="11844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2100" cap="none" spc="0">
                          <a:solidFill>
                            <a:schemeClr val="tx1"/>
                          </a:solidFill>
                        </a:rPr>
                        <a:t>Full system rollout. Introduce predictive analytics and continuous improvement loops.</a:t>
                      </a:r>
                    </a:p>
                  </a:txBody>
                  <a:tcPr marL="107273" marR="107273" marT="53636" marB="11844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172627948"/>
                  </a:ext>
                </a:extLst>
              </a:tr>
            </a:tbl>
          </a:graphicData>
        </a:graphic>
      </p:graphicFrame>
    </p:spTree>
    <p:extLst>
      <p:ext uri="{BB962C8B-B14F-4D97-AF65-F5344CB8AC3E}">
        <p14:creationId xmlns:p14="http://schemas.microsoft.com/office/powerpoint/2010/main" val="1048573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D0DAFF-EBB6-8C06-30D4-0C074A51F4B9}"/>
            </a:ext>
          </a:extLst>
        </p:cNvPr>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DA2E7C1E-2B5A-4BBA-AE51-1CD8C1930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6">
            <a:extLst>
              <a:ext uri="{FF2B5EF4-FFF2-40B4-BE49-F238E27FC236}">
                <a16:creationId xmlns:a16="http://schemas.microsoft.com/office/drawing/2014/main" id="{43DF76B1-5174-4FAF-9D19-FFEE98426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C972DE78-7040-73E5-4739-641AE782FBEA}"/>
              </a:ext>
            </a:extLst>
          </p:cNvPr>
          <p:cNvGraphicFramePr>
            <a:graphicFrameLocks noGrp="1"/>
          </p:cNvGraphicFramePr>
          <p:nvPr>
            <p:extLst>
              <p:ext uri="{D42A27DB-BD31-4B8C-83A1-F6EECF244321}">
                <p14:modId xmlns:p14="http://schemas.microsoft.com/office/powerpoint/2010/main" val="2151345608"/>
              </p:ext>
            </p:extLst>
          </p:nvPr>
        </p:nvGraphicFramePr>
        <p:xfrm>
          <a:off x="990600" y="1073279"/>
          <a:ext cx="10134601" cy="4662422"/>
        </p:xfrm>
        <a:graphic>
          <a:graphicData uri="http://schemas.openxmlformats.org/drawingml/2006/table">
            <a:tbl>
              <a:tblPr/>
              <a:tblGrid>
                <a:gridCol w="5007033">
                  <a:extLst>
                    <a:ext uri="{9D8B030D-6E8A-4147-A177-3AD203B41FA5}">
                      <a16:colId xmlns:a16="http://schemas.microsoft.com/office/drawing/2014/main" val="1788557311"/>
                    </a:ext>
                  </a:extLst>
                </a:gridCol>
                <a:gridCol w="5127568">
                  <a:extLst>
                    <a:ext uri="{9D8B030D-6E8A-4147-A177-3AD203B41FA5}">
                      <a16:colId xmlns:a16="http://schemas.microsoft.com/office/drawing/2014/main" val="3981851517"/>
                    </a:ext>
                  </a:extLst>
                </a:gridCol>
              </a:tblGrid>
              <a:tr h="4651062">
                <a:tc>
                  <a:txBody>
                    <a:bodyPr/>
                    <a:lstStyle/>
                    <a:p>
                      <a:pPr>
                        <a:buNone/>
                      </a:pPr>
                      <a:r>
                        <a:rPr lang="en-IN" sz="2700" b="1"/>
                        <a:t>3-Year Organizational Goals</a:t>
                      </a:r>
                      <a:endParaRPr lang="en-IN" sz="2700"/>
                    </a:p>
                  </a:txBody>
                  <a:tcPr marL="136142" marR="136142" marT="68071" marB="68071" anchor="ctr">
                    <a:lnL>
                      <a:noFill/>
                    </a:lnL>
                    <a:lnR>
                      <a:noFill/>
                    </a:lnR>
                    <a:lnT>
                      <a:noFill/>
                    </a:lnT>
                    <a:lnB>
                      <a:noFill/>
                    </a:lnB>
                    <a:noFill/>
                  </a:tcPr>
                </a:tc>
                <a:tc>
                  <a:txBody>
                    <a:bodyPr/>
                    <a:lstStyle/>
                    <a:p>
                      <a:pPr>
                        <a:buNone/>
                      </a:pPr>
                      <a:r>
                        <a:rPr lang="en-US" sz="2700"/>
                        <a:t>- Increase patient satisfaction scores by 15%</a:t>
                      </a:r>
                      <a:br>
                        <a:rPr lang="en-US" sz="2700"/>
                      </a:br>
                      <a:r>
                        <a:rPr lang="en-US" sz="2700"/>
                        <a:t>- Reduce avoidable hospital readmissions by 10%</a:t>
                      </a:r>
                      <a:br>
                        <a:rPr lang="en-US" sz="2700"/>
                      </a:br>
                      <a:r>
                        <a:rPr lang="en-US" sz="2700"/>
                        <a:t>- Expand telehealth visits to 25% of outpatient encounters</a:t>
                      </a:r>
                      <a:br>
                        <a:rPr lang="en-US" sz="2700"/>
                      </a:br>
                      <a:r>
                        <a:rPr lang="en-US" sz="2700"/>
                        <a:t>- Achieve operational savings through efficiency initiatives</a:t>
                      </a:r>
                      <a:br>
                        <a:rPr lang="en-US" sz="2700"/>
                      </a:br>
                      <a:r>
                        <a:rPr lang="en-US" sz="2700"/>
                        <a:t>- Implement advanced AI and data analytics in at least two clinical or operational domains</a:t>
                      </a:r>
                    </a:p>
                  </a:txBody>
                  <a:tcPr marL="136142" marR="136142" marT="68071" marB="68071" anchor="ctr">
                    <a:lnL>
                      <a:noFill/>
                    </a:lnL>
                    <a:lnR>
                      <a:noFill/>
                    </a:lnR>
                    <a:lnT>
                      <a:noFill/>
                    </a:lnT>
                    <a:lnB>
                      <a:noFill/>
                    </a:lnB>
                    <a:noFill/>
                  </a:tcPr>
                </a:tc>
                <a:extLst>
                  <a:ext uri="{0D108BD9-81ED-4DB2-BD59-A6C34878D82A}">
                    <a16:rowId xmlns:a16="http://schemas.microsoft.com/office/drawing/2014/main" val="410700363"/>
                  </a:ext>
                </a:extLst>
              </a:tr>
            </a:tbl>
          </a:graphicData>
        </a:graphic>
      </p:graphicFrame>
    </p:spTree>
    <p:extLst>
      <p:ext uri="{BB962C8B-B14F-4D97-AF65-F5344CB8AC3E}">
        <p14:creationId xmlns:p14="http://schemas.microsoft.com/office/powerpoint/2010/main" val="1824728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extBox 3">
            <a:extLst>
              <a:ext uri="{FF2B5EF4-FFF2-40B4-BE49-F238E27FC236}">
                <a16:creationId xmlns:a16="http://schemas.microsoft.com/office/drawing/2014/main" id="{7873A19A-7217-5FE4-1C07-99D4806A645D}"/>
              </a:ext>
            </a:extLst>
          </p:cNvPr>
          <p:cNvGraphicFramePr/>
          <p:nvPr>
            <p:extLst>
              <p:ext uri="{D42A27DB-BD31-4B8C-83A1-F6EECF244321}">
                <p14:modId xmlns:p14="http://schemas.microsoft.com/office/powerpoint/2010/main" val="40737160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9587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Arc 17">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91583"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9419" y="366810"/>
            <a:ext cx="6124381"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9A13F17-DF72-16CE-76ED-EEF4E654E4E3}"/>
              </a:ext>
            </a:extLst>
          </p:cNvPr>
          <p:cNvSpPr txBox="1"/>
          <p:nvPr/>
        </p:nvSpPr>
        <p:spPr>
          <a:xfrm>
            <a:off x="838200" y="647593"/>
            <a:ext cx="4467792" cy="3060541"/>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6000" b="1" kern="1200" dirty="0">
                <a:solidFill>
                  <a:srgbClr val="FFFFFF"/>
                </a:solidFill>
                <a:latin typeface="+mj-lt"/>
                <a:ea typeface="+mj-ea"/>
                <a:cs typeface="+mj-cs"/>
              </a:rPr>
              <a:t>Success Story Demo</a:t>
            </a:r>
          </a:p>
        </p:txBody>
      </p:sp>
      <p:pic>
        <p:nvPicPr>
          <p:cNvPr id="6" name="Graphic 5" descr="Teacher">
            <a:extLst>
              <a:ext uri="{FF2B5EF4-FFF2-40B4-BE49-F238E27FC236}">
                <a16:creationId xmlns:a16="http://schemas.microsoft.com/office/drawing/2014/main" id="{77AD13BB-8566-BD5C-FF1F-3D515A7675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23623" y="1374798"/>
            <a:ext cx="4108404" cy="4108404"/>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1872119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descr="Question mark against red wall">
            <a:extLst>
              <a:ext uri="{FF2B5EF4-FFF2-40B4-BE49-F238E27FC236}">
                <a16:creationId xmlns:a16="http://schemas.microsoft.com/office/drawing/2014/main" id="{A601616B-D4F2-DDB9-6207-FABFA832ECFE}"/>
              </a:ext>
            </a:extLst>
          </p:cNvPr>
          <p:cNvPicPr>
            <a:picLocks noChangeAspect="1"/>
          </p:cNvPicPr>
          <p:nvPr/>
        </p:nvPicPr>
        <p:blipFill>
          <a:blip r:embed="rId2"/>
          <a:srcRect l="33196" r="1" b="1"/>
          <a:stretch>
            <a:fillRect/>
          </a:stretch>
        </p:blipFill>
        <p:spPr>
          <a:xfrm>
            <a:off x="-9886" y="10"/>
            <a:ext cx="7572605" cy="6857990"/>
          </a:xfrm>
          <a:prstGeom prst="rect">
            <a:avLst/>
          </a:prstGeom>
        </p:spPr>
      </p:pic>
      <p:cxnSp>
        <p:nvCxnSpPr>
          <p:cNvPr id="15" name="Straight Connector 14">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CA3CBC8-07DD-E98F-4562-35A15ABED619}"/>
              </a:ext>
            </a:extLst>
          </p:cNvPr>
          <p:cNvSpPr txBox="1"/>
          <p:nvPr/>
        </p:nvSpPr>
        <p:spPr>
          <a:xfrm>
            <a:off x="8153400" y="2543364"/>
            <a:ext cx="3434180" cy="3599019"/>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b="1" dirty="0"/>
              <a:t>Q &amp; A</a:t>
            </a:r>
          </a:p>
        </p:txBody>
      </p:sp>
    </p:spTree>
    <p:extLst>
      <p:ext uri="{BB962C8B-B14F-4D97-AF65-F5344CB8AC3E}">
        <p14:creationId xmlns:p14="http://schemas.microsoft.com/office/powerpoint/2010/main" val="3375698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260df36-bc43-424c-8f44-c85226657b01}" enabled="0" method="" siteId="{f260df36-bc43-424c-8f44-c85226657b01}" removed="1"/>
</clbl:labelList>
</file>

<file path=docProps/app.xml><?xml version="1.0" encoding="utf-8"?>
<Properties xmlns="http://schemas.openxmlformats.org/officeDocument/2006/extended-properties" xmlns:vt="http://schemas.openxmlformats.org/officeDocument/2006/docPropsVTypes">
  <TotalTime>528</TotalTime>
  <Words>618</Words>
  <Application>Microsoft Office PowerPoint</Application>
  <PresentationFormat>Widescreen</PresentationFormat>
  <Paragraphs>72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HelathCareOne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NITHYA A</dc:creator>
  <cp:lastModifiedBy>DHANUSHREE M Y</cp:lastModifiedBy>
  <cp:revision>4</cp:revision>
  <dcterms:created xsi:type="dcterms:W3CDTF">2025-11-12T05:06:46Z</dcterms:created>
  <dcterms:modified xsi:type="dcterms:W3CDTF">2025-11-19T11:34:19Z</dcterms:modified>
</cp:coreProperties>
</file>